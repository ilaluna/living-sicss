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9" r:id="rId1"/>
  </p:sldMasterIdLst>
  <p:notesMasterIdLst>
    <p:notesMasterId r:id="rId20"/>
  </p:notesMasterIdLst>
  <p:sldIdLst>
    <p:sldId id="256" r:id="rId2"/>
    <p:sldId id="264" r:id="rId3"/>
    <p:sldId id="265" r:id="rId4"/>
    <p:sldId id="266" r:id="rId5"/>
    <p:sldId id="263" r:id="rId6"/>
    <p:sldId id="267" r:id="rId7"/>
    <p:sldId id="259" r:id="rId8"/>
    <p:sldId id="269" r:id="rId9"/>
    <p:sldId id="258" r:id="rId10"/>
    <p:sldId id="260" r:id="rId11"/>
    <p:sldId id="270" r:id="rId12"/>
    <p:sldId id="261" r:id="rId13"/>
    <p:sldId id="273" r:id="rId14"/>
    <p:sldId id="272" r:id="rId15"/>
    <p:sldId id="274" r:id="rId16"/>
    <p:sldId id="275" r:id="rId17"/>
    <p:sldId id="276" r:id="rId18"/>
    <p:sldId id="268" r:id="rId19"/>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1"/>
    <p:restoredTop sz="94676"/>
  </p:normalViewPr>
  <p:slideViewPr>
    <p:cSldViewPr snapToGrid="0">
      <p:cViewPr varScale="1">
        <p:scale>
          <a:sx n="114" d="100"/>
          <a:sy n="114" d="100"/>
        </p:scale>
        <p:origin x="41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31C51D-D7C2-44A5-85D3-69E93A6C6FFA}" type="datetimeFigureOut">
              <a:rPr lang="en-NL" smtClean="0"/>
              <a:t>6/18/26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9B7CD5-E554-4EF4-BDFC-2343191D4CFE}" type="slidenum">
              <a:rPr lang="en-NL" smtClean="0"/>
              <a:t>‹#›</a:t>
            </a:fld>
            <a:endParaRPr lang="en-NL"/>
          </a:p>
        </p:txBody>
      </p:sp>
    </p:spTree>
    <p:extLst>
      <p:ext uri="{BB962C8B-B14F-4D97-AF65-F5344CB8AC3E}">
        <p14:creationId xmlns:p14="http://schemas.microsoft.com/office/powerpoint/2010/main" val="33385843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2B9B7CD5-E554-4EF4-BDFC-2343191D4CFE}" type="slidenum">
              <a:rPr lang="en-NL" smtClean="0"/>
              <a:t>9</a:t>
            </a:fld>
            <a:endParaRPr lang="en-NL"/>
          </a:p>
        </p:txBody>
      </p:sp>
    </p:spTree>
    <p:extLst>
      <p:ext uri="{BB962C8B-B14F-4D97-AF65-F5344CB8AC3E}">
        <p14:creationId xmlns:p14="http://schemas.microsoft.com/office/powerpoint/2010/main" val="11238752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E1A06-8754-4870-9E44-E39BADAD98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527F020-BBC3-49BB-91C2-5B2CBD64B3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7C0C22-EBDA-4130-87AE-CB28BC19B077}"/>
              </a:ext>
            </a:extLst>
          </p:cNvPr>
          <p:cNvSpPr>
            <a:spLocks noGrp="1"/>
          </p:cNvSpPr>
          <p:nvPr>
            <p:ph type="dt" sz="half" idx="10"/>
          </p:nvPr>
        </p:nvSpPr>
        <p:spPr/>
        <p:txBody>
          <a:bodyPr/>
          <a:lstStyle/>
          <a:p>
            <a:fld id="{82EDB8D0-98ED-4B86-9D5F-E61ADC70144D}" type="datetimeFigureOut">
              <a:rPr lang="en-US" smtClean="0"/>
              <a:t>6/18/26</a:t>
            </a:fld>
            <a:endParaRPr lang="en-US" dirty="0"/>
          </a:p>
        </p:txBody>
      </p:sp>
      <p:sp>
        <p:nvSpPr>
          <p:cNvPr id="5" name="Footer Placeholder 4">
            <a:extLst>
              <a:ext uri="{FF2B5EF4-FFF2-40B4-BE49-F238E27FC236}">
                <a16:creationId xmlns:a16="http://schemas.microsoft.com/office/drawing/2014/main" id="{E2A419A8-07CA-4A4C-AEC2-C40D4D50AF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FA7B86-E610-42EA-B4DC-C2F447785273}"/>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8A7BA06D-B3FF-4E91-8639-B4569AE3AA23}"/>
              </a:ext>
            </a:extLst>
          </p:cNvPr>
          <p:cNvSpPr/>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Arc 7">
            <a:extLst>
              <a:ext uri="{FF2B5EF4-FFF2-40B4-BE49-F238E27FC236}">
                <a16:creationId xmlns:a16="http://schemas.microsoft.com/office/drawing/2014/main" id="{2B30C86D-5A07-48BC-9C9D-6F9A2DB1E9E1}"/>
              </a:ext>
            </a:extLst>
          </p:cNvPr>
          <p:cNvSpPr/>
          <p:nvPr/>
        </p:nvSpPr>
        <p:spPr>
          <a:xfrm rot="10800000" flipV="1">
            <a:off x="555710" y="106482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83913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FF209-11EE-4A3F-9685-A155FECD0D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A47AF11-F208-4FDA-9E19-D6CA3472134E}"/>
              </a:ext>
            </a:extLst>
          </p:cNvPr>
          <p:cNvSpPr>
            <a:spLocks noGrp="1"/>
          </p:cNvSpPr>
          <p:nvPr>
            <p:ph idx="1"/>
          </p:nvPr>
        </p:nvSpPr>
        <p:spPr>
          <a:xfrm>
            <a:off x="838200" y="1825625"/>
            <a:ext cx="10515600" cy="38597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E82FA1-02B7-467E-9F16-D178149407C5}"/>
              </a:ext>
            </a:extLst>
          </p:cNvPr>
          <p:cNvSpPr>
            <a:spLocks noGrp="1"/>
          </p:cNvSpPr>
          <p:nvPr>
            <p:ph type="dt" sz="half" idx="10"/>
          </p:nvPr>
        </p:nvSpPr>
        <p:spPr/>
        <p:txBody>
          <a:bodyPr/>
          <a:lstStyle/>
          <a:p>
            <a:fld id="{82EDB8D0-98ED-4B86-9D5F-E61ADC70144D}" type="datetimeFigureOut">
              <a:rPr lang="en-US" smtClean="0"/>
              <a:t>6/18/26</a:t>
            </a:fld>
            <a:endParaRPr lang="en-US" dirty="0"/>
          </a:p>
        </p:txBody>
      </p:sp>
      <p:sp>
        <p:nvSpPr>
          <p:cNvPr id="5" name="Footer Placeholder 4">
            <a:extLst>
              <a:ext uri="{FF2B5EF4-FFF2-40B4-BE49-F238E27FC236}">
                <a16:creationId xmlns:a16="http://schemas.microsoft.com/office/drawing/2014/main" id="{6D389247-FB8A-4494-859B-B3754B02A5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A5B62-3338-46A5-B381-A63B88CB0DDA}"/>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23DA7759-3209-4FE2-96D1-4EEDD81E9EA0}"/>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Freeform: Shape 7">
            <a:extLst>
              <a:ext uri="{FF2B5EF4-FFF2-40B4-BE49-F238E27FC236}">
                <a16:creationId xmlns:a16="http://schemas.microsoft.com/office/drawing/2014/main" id="{41460DAD-8769-4C9F-9C8C-BB0443909D76}"/>
              </a:ext>
            </a:extLst>
          </p:cNvPr>
          <p:cNvSpPr/>
          <p:nvPr/>
        </p:nvSpPr>
        <p:spPr>
          <a:xfrm flipH="1">
            <a:off x="123536"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13380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C0001-5D76-45A0-A9F4-7172BDDD5D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E1462C4-0E4B-4DB7-A8BF-FE55142760A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A5F313-1240-47AE-A026-7F349292B5CA}"/>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5" name="Footer Placeholder 4">
            <a:extLst>
              <a:ext uri="{FF2B5EF4-FFF2-40B4-BE49-F238E27FC236}">
                <a16:creationId xmlns:a16="http://schemas.microsoft.com/office/drawing/2014/main" id="{22448158-6132-4335-B8E1-F6A8963837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94C5B6-1598-48B4-9B3A-3078FDBE90B7}"/>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9" name="Freeform: Shape 8">
            <a:extLst>
              <a:ext uri="{FF2B5EF4-FFF2-40B4-BE49-F238E27FC236}">
                <a16:creationId xmlns:a16="http://schemas.microsoft.com/office/drawing/2014/main" id="{FEDBDD32-D3EE-4848-A112-BA814D4631CD}"/>
              </a:ext>
            </a:extLst>
          </p:cNvPr>
          <p:cNvSpPr/>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Arc 9">
            <a:extLst>
              <a:ext uri="{FF2B5EF4-FFF2-40B4-BE49-F238E27FC236}">
                <a16:creationId xmlns:a16="http://schemas.microsoft.com/office/drawing/2014/main" id="{61350361-843C-49D0-BD6A-ECDBA3842BA0}"/>
              </a:ext>
            </a:extLst>
          </p:cNvPr>
          <p:cNvSpPr/>
          <p:nvPr/>
        </p:nvSpPr>
        <p:spPr>
          <a:xfrm rot="10800000" flipV="1">
            <a:off x="555710" y="106482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15287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BFD05-2CB2-4A7E-89E7-57615BA82B4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F9532B8-D460-476D-816F-725E8D96C0A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F7120F-70AF-4ED5-B364-3AA55C6B44B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D8B65F-F709-469F-9961-4D01896CAA12}"/>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6" name="Footer Placeholder 5">
            <a:extLst>
              <a:ext uri="{FF2B5EF4-FFF2-40B4-BE49-F238E27FC236}">
                <a16:creationId xmlns:a16="http://schemas.microsoft.com/office/drawing/2014/main" id="{B781C6BC-B23D-48BC-AD44-654DDB8D01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00D60B-86A1-479D-BCE8-06D2C3DBC94E}"/>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8" name="Freeform: Shape 7">
            <a:extLst>
              <a:ext uri="{FF2B5EF4-FFF2-40B4-BE49-F238E27FC236}">
                <a16:creationId xmlns:a16="http://schemas.microsoft.com/office/drawing/2014/main" id="{B4EC5136-99DA-40B5-8F79-5C3A56D38BA1}"/>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4F8FB775-26C4-41BA-837C-4478D48D2157}"/>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9959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2983E-E761-4429-9203-7FE8B2DB67E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921E9B7-62BE-49BA-AC6B-55250D6627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41A3FD-B90A-4C31-BD6B-581F9E2E0E5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0D1D55-B722-4968-B171-AF3B462DDA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71085A8-02C2-4E7F-935E-5AEECBAD19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8A5018-8A77-40E8-B159-4894ECF228B1}"/>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8" name="Footer Placeholder 7">
            <a:extLst>
              <a:ext uri="{FF2B5EF4-FFF2-40B4-BE49-F238E27FC236}">
                <a16:creationId xmlns:a16="http://schemas.microsoft.com/office/drawing/2014/main" id="{8AD79441-8908-4461-9FDD-BCE63883709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8D29F7D-B101-4950-A2C0-F350FB26D45F}"/>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10" name="Freeform: Shape 9">
            <a:extLst>
              <a:ext uri="{FF2B5EF4-FFF2-40B4-BE49-F238E27FC236}">
                <a16:creationId xmlns:a16="http://schemas.microsoft.com/office/drawing/2014/main" id="{862D7398-9A79-4B24-9C7D-F0DEED57C70B}"/>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Freeform: Shape 10">
            <a:extLst>
              <a:ext uri="{FF2B5EF4-FFF2-40B4-BE49-F238E27FC236}">
                <a16:creationId xmlns:a16="http://schemas.microsoft.com/office/drawing/2014/main" id="{C07F28CD-1873-4E36-A064-2D25E0A85017}"/>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728238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11BF3-02E8-4EB7-818E-652B82CF2C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4D3190-B78C-42F1-9D62-F523886BBE51}"/>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4" name="Footer Placeholder 3">
            <a:extLst>
              <a:ext uri="{FF2B5EF4-FFF2-40B4-BE49-F238E27FC236}">
                <a16:creationId xmlns:a16="http://schemas.microsoft.com/office/drawing/2014/main" id="{EA381C40-F9FC-4D58-8508-F0632DF5A01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101CBCC-4CC2-49BD-B155-01E0F4D798BE}"/>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6" name="Freeform: Shape 5">
            <a:extLst>
              <a:ext uri="{FF2B5EF4-FFF2-40B4-BE49-F238E27FC236}">
                <a16:creationId xmlns:a16="http://schemas.microsoft.com/office/drawing/2014/main" id="{DC13EF9C-0B5A-4364-91AA-E5DD5B536E54}"/>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Freeform: Shape 6">
            <a:extLst>
              <a:ext uri="{FF2B5EF4-FFF2-40B4-BE49-F238E27FC236}">
                <a16:creationId xmlns:a16="http://schemas.microsoft.com/office/drawing/2014/main" id="{8F674475-6327-490A-BD7F-084F5C07F2E4}"/>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46490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7024287-C9B9-48AC-8E4D-A282DE2F44F5}"/>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3" name="Footer Placeholder 2">
            <a:extLst>
              <a:ext uri="{FF2B5EF4-FFF2-40B4-BE49-F238E27FC236}">
                <a16:creationId xmlns:a16="http://schemas.microsoft.com/office/drawing/2014/main" id="{2D34C9A2-75A7-4164-B3B8-E6A9D60BA0B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CBE73CE-2859-4D49-A9EC-26AF3FBDF6A3}"/>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5" name="Freeform: Shape 4">
            <a:extLst>
              <a:ext uri="{FF2B5EF4-FFF2-40B4-BE49-F238E27FC236}">
                <a16:creationId xmlns:a16="http://schemas.microsoft.com/office/drawing/2014/main" id="{AA5ED585-FEBB-4DAD-84C0-97BEE6C360C3}"/>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Freeform: Shape 5">
            <a:extLst>
              <a:ext uri="{FF2B5EF4-FFF2-40B4-BE49-F238E27FC236}">
                <a16:creationId xmlns:a16="http://schemas.microsoft.com/office/drawing/2014/main" id="{EF6AC352-A720-4DB3-87CA-A33B0607CA2F}"/>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16697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FC812-4DB6-4F98-9404-29C191D3BA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F0855E-0CD6-47DD-B648-4C84C783D7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D50082B-17D7-4D61-8AEB-81517D85D2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A70783-FF31-4C4E-9196-EB169B209747}"/>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6" name="Footer Placeholder 5">
            <a:extLst>
              <a:ext uri="{FF2B5EF4-FFF2-40B4-BE49-F238E27FC236}">
                <a16:creationId xmlns:a16="http://schemas.microsoft.com/office/drawing/2014/main" id="{7D92E260-747D-40FD-A062-9DD5E6835A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7E50A0-1E05-49C5-88C9-46267751201F}"/>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8" name="Freeform: Shape 7">
            <a:extLst>
              <a:ext uri="{FF2B5EF4-FFF2-40B4-BE49-F238E27FC236}">
                <a16:creationId xmlns:a16="http://schemas.microsoft.com/office/drawing/2014/main" id="{2C155C63-9F58-4422-B669-F97486280671}"/>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385DBA62-0EDB-47AA-86C7-90463BC9B308}"/>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66096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D7521-E43D-41D1-B458-26B20DC6DD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2472CF2-2653-4B98-A416-D7A0A860EC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6EF87F5-0B10-4AC7-9599-F088C5E796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A07CB7-0520-4D64-B76C-C31AC557832D}"/>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6" name="Footer Placeholder 5">
            <a:extLst>
              <a:ext uri="{FF2B5EF4-FFF2-40B4-BE49-F238E27FC236}">
                <a16:creationId xmlns:a16="http://schemas.microsoft.com/office/drawing/2014/main" id="{92EEB226-AD45-45DF-AAB5-5513AE732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E96AEB-9481-4CCE-B110-FEDD334835B8}"/>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8" name="Freeform: Shape 7">
            <a:extLst>
              <a:ext uri="{FF2B5EF4-FFF2-40B4-BE49-F238E27FC236}">
                <a16:creationId xmlns:a16="http://schemas.microsoft.com/office/drawing/2014/main" id="{6BA9707F-7BCE-464F-BF45-E216527084EE}"/>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BC589723-2CC8-49D1-B4E1-36FECED6A2D7}"/>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98700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6E5D1-6D19-4E7F-9B4E-42326B7716F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D2A06C-F91A-4ADC-9CD2-61F0A4D7EE1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3AA9A-2280-4F63-8B3D-20742AE6901F}"/>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5" name="Footer Placeholder 4">
            <a:extLst>
              <a:ext uri="{FF2B5EF4-FFF2-40B4-BE49-F238E27FC236}">
                <a16:creationId xmlns:a16="http://schemas.microsoft.com/office/drawing/2014/main" id="{E40D986B-E58E-43B6-8A80-FFA9D8F748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140D36-2E71-4F27-967F-7A3E4C6EE197}"/>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C1609904-5327-4D2C-A445-B270A00F3B5F}"/>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Freeform: Shape 7">
            <a:extLst>
              <a:ext uri="{FF2B5EF4-FFF2-40B4-BE49-F238E27FC236}">
                <a16:creationId xmlns:a16="http://schemas.microsoft.com/office/drawing/2014/main" id="{30FC7BEC-08C5-4D95-9C84-B48BC8AD1C94}"/>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342143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1FEA3D-0C7F-45CD-B6A0-942F707B363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E8B8A12-BCE6-4D03-A637-1DEC8924BEF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749755-9FF4-428A-AEB7-1A6477466741}"/>
              </a:ext>
            </a:extLst>
          </p:cNvPr>
          <p:cNvSpPr>
            <a:spLocks noGrp="1"/>
          </p:cNvSpPr>
          <p:nvPr>
            <p:ph type="dt" sz="half" idx="10"/>
          </p:nvPr>
        </p:nvSpPr>
        <p:spPr/>
        <p:txBody>
          <a:bodyPr/>
          <a:lstStyle/>
          <a:p>
            <a:fld id="{82EDB8D0-98ED-4B86-9D5F-E61ADC70144D}" type="datetimeFigureOut">
              <a:rPr lang="en-US" smtClean="0"/>
              <a:t>6/18/26</a:t>
            </a:fld>
            <a:endParaRPr lang="en-US"/>
          </a:p>
        </p:txBody>
      </p:sp>
      <p:sp>
        <p:nvSpPr>
          <p:cNvPr id="5" name="Footer Placeholder 4">
            <a:extLst>
              <a:ext uri="{FF2B5EF4-FFF2-40B4-BE49-F238E27FC236}">
                <a16:creationId xmlns:a16="http://schemas.microsoft.com/office/drawing/2014/main" id="{A5141836-11E2-49FD-877D-53B74514A9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D24C42-4B05-4EEF-BE14-29041EC9C0E5}"/>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5BADDEB1-F604-408B-B02A-A2814606E6AF}"/>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Freeform: Shape 7">
            <a:extLst>
              <a:ext uri="{FF2B5EF4-FFF2-40B4-BE49-F238E27FC236}">
                <a16:creationId xmlns:a16="http://schemas.microsoft.com/office/drawing/2014/main" id="{D8DF7987-332F-4D6C-81C3-990F39C76C96}"/>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3874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EC5685-19F1-49DA-ADE5-D5D32F1659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FC0A4D-22A1-4554-B5DE-887974F4DF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9D5CDC-F2CE-410E-AD13-DDC235C71C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100" cap="none" spc="0" baseline="0">
                <a:solidFill>
                  <a:schemeClr val="tx1">
                    <a:tint val="75000"/>
                  </a:schemeClr>
                </a:solidFill>
                <a:latin typeface="+mn-lt"/>
              </a:defRPr>
            </a:lvl1pPr>
          </a:lstStyle>
          <a:p>
            <a:fld id="{82EDB8D0-98ED-4B86-9D5F-E61ADC70144D}" type="datetimeFigureOut">
              <a:rPr lang="en-US" smtClean="0"/>
              <a:pPr/>
              <a:t>6/18/26</a:t>
            </a:fld>
            <a:endParaRPr lang="en-US" dirty="0"/>
          </a:p>
        </p:txBody>
      </p:sp>
      <p:sp>
        <p:nvSpPr>
          <p:cNvPr id="5" name="Footer Placeholder 4">
            <a:extLst>
              <a:ext uri="{FF2B5EF4-FFF2-40B4-BE49-F238E27FC236}">
                <a16:creationId xmlns:a16="http://schemas.microsoft.com/office/drawing/2014/main" id="{9340CD45-794A-4BB0-A427-0CE61AEAF4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cap="none" spc="0" baseline="0">
                <a:solidFill>
                  <a:schemeClr val="tx1">
                    <a:tint val="75000"/>
                  </a:schemeClr>
                </a:solidFill>
                <a:latin typeface="+mn-lt"/>
              </a:defRPr>
            </a:lvl1pPr>
          </a:lstStyle>
          <a:p>
            <a:endParaRPr lang="en-US"/>
          </a:p>
        </p:txBody>
      </p:sp>
      <p:sp>
        <p:nvSpPr>
          <p:cNvPr id="6" name="Slide Number Placeholder 5">
            <a:extLst>
              <a:ext uri="{FF2B5EF4-FFF2-40B4-BE49-F238E27FC236}">
                <a16:creationId xmlns:a16="http://schemas.microsoft.com/office/drawing/2014/main" id="{FCB3AB91-9588-4071-92D2-364F4A6ED0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100" cap="none" spc="0" baseline="0">
                <a:solidFill>
                  <a:schemeClr val="tx1">
                    <a:tint val="75000"/>
                  </a:schemeClr>
                </a:solidFill>
                <a:latin typeface="+mn-lt"/>
              </a:defRPr>
            </a:lvl1pPr>
          </a:lstStyle>
          <a:p>
            <a:fld id="{4854181D-6920-4594-9A5D-6CE56DC9F8B2}" type="slidenum">
              <a:rPr lang="en-US" smtClean="0"/>
              <a:pPr/>
              <a:t>‹#›</a:t>
            </a:fld>
            <a:endParaRPr lang="en-US"/>
          </a:p>
        </p:txBody>
      </p:sp>
    </p:spTree>
    <p:extLst>
      <p:ext uri="{BB962C8B-B14F-4D97-AF65-F5344CB8AC3E}">
        <p14:creationId xmlns:p14="http://schemas.microsoft.com/office/powerpoint/2010/main" val="2190710377"/>
      </p:ext>
    </p:extLst>
  </p:cSld>
  <p:clrMap bg1="lt1" tx1="dk1" bg2="lt2" tx2="dk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28" r:id="rId5"/>
    <p:sldLayoutId id="2147483733" r:id="rId6"/>
    <p:sldLayoutId id="2147483729" r:id="rId7"/>
    <p:sldLayoutId id="2147483730" r:id="rId8"/>
    <p:sldLayoutId id="2147483731" r:id="rId9"/>
    <p:sldLayoutId id="2147483732" r:id="rId10"/>
    <p:sldLayoutId id="2147483734" r:id="rId11"/>
  </p:sldLayoutIdLst>
  <p:txStyles>
    <p:titleStyle>
      <a:lvl1pPr algn="l" defTabSz="914400" rtl="0" eaLnBrk="1" latinLnBrk="0" hangingPunct="1">
        <a:lnSpc>
          <a:spcPct val="90000"/>
        </a:lnSpc>
        <a:spcBef>
          <a:spcPct val="0"/>
        </a:spcBef>
        <a:buNone/>
        <a:defRPr sz="32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www.leefbaarometer.nl/resources/LBM3Instrumentontwikkeling.pdf"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www.leefbaarometer.nl/resources/LBM3Instrumentontwikkeling.pdf" TargetMode="External"/><Relationship Id="rId2" Type="http://schemas.openxmlformats.org/officeDocument/2006/relationships/hyperlink" Target="https://www.cbs.nl/en-gb/news/2026/17/fewer-young-people-entering-the-housing-marke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1D7EC86-7CB9-431D-8AC3-8AAF0440B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D4B9777F-B610-419B-9193-80306388F3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Arc">
            <a:extLst>
              <a:ext uri="{FF2B5EF4-FFF2-40B4-BE49-F238E27FC236}">
                <a16:creationId xmlns:a16="http://schemas.microsoft.com/office/drawing/2014/main" id="{311F016A-A753-449B-9EA6-322199B711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427715">
            <a:off x="1108520" y="775849"/>
            <a:ext cx="2987899" cy="2987899"/>
          </a:xfrm>
          <a:prstGeom prst="arc">
            <a:avLst>
              <a:gd name="adj1" fmla="val 16200000"/>
              <a:gd name="adj2" fmla="val 2287352"/>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A261A4F-1346-A6DD-D4C8-26086A3E5450}"/>
              </a:ext>
            </a:extLst>
          </p:cNvPr>
          <p:cNvSpPr>
            <a:spLocks noGrp="1"/>
          </p:cNvSpPr>
          <p:nvPr>
            <p:ph type="ctrTitle"/>
          </p:nvPr>
        </p:nvSpPr>
        <p:spPr>
          <a:xfrm>
            <a:off x="860742" y="1124988"/>
            <a:ext cx="4425962" cy="2387600"/>
          </a:xfrm>
        </p:spPr>
        <p:txBody>
          <a:bodyPr vert="horz" lIns="91440" tIns="45720" rIns="91440" bIns="45720" rtlCol="0" anchor="b">
            <a:normAutofit/>
          </a:bodyPr>
          <a:lstStyle/>
          <a:p>
            <a:pPr algn="l"/>
            <a:r>
              <a:rPr lang="en-US" b="1" kern="1200" dirty="0">
                <a:solidFill>
                  <a:schemeClr val="tx1"/>
                </a:solidFill>
                <a:latin typeface="Aptos" panose="020B0004020202020204" pitchFamily="34" charset="0"/>
              </a:rPr>
              <a:t>LIVING</a:t>
            </a:r>
          </a:p>
        </p:txBody>
      </p:sp>
      <p:sp>
        <p:nvSpPr>
          <p:cNvPr id="3" name="Subtitle 2">
            <a:extLst>
              <a:ext uri="{FF2B5EF4-FFF2-40B4-BE49-F238E27FC236}">
                <a16:creationId xmlns:a16="http://schemas.microsoft.com/office/drawing/2014/main" id="{3E217CD0-BD87-485E-BAC3-77CFE8A21881}"/>
              </a:ext>
            </a:extLst>
          </p:cNvPr>
          <p:cNvSpPr>
            <a:spLocks noGrp="1"/>
          </p:cNvSpPr>
          <p:nvPr>
            <p:ph type="subTitle" idx="1"/>
          </p:nvPr>
        </p:nvSpPr>
        <p:spPr>
          <a:xfrm>
            <a:off x="860742" y="3633691"/>
            <a:ext cx="4788944" cy="1655762"/>
          </a:xfrm>
        </p:spPr>
        <p:txBody>
          <a:bodyPr vert="horz" lIns="91440" tIns="45720" rIns="91440" bIns="45720" rtlCol="0">
            <a:normAutofit/>
          </a:bodyPr>
          <a:lstStyle/>
          <a:p>
            <a:pPr algn="l"/>
            <a:r>
              <a:rPr lang="en-US" sz="2800" kern="1200" dirty="0">
                <a:solidFill>
                  <a:schemeClr val="tx1"/>
                </a:solidFill>
                <a:latin typeface="Aptos" panose="020B0004020202020204" pitchFamily="34" charset="0"/>
              </a:rPr>
              <a:t>Livability maps and prediction</a:t>
            </a:r>
          </a:p>
        </p:txBody>
      </p:sp>
      <p:pic>
        <p:nvPicPr>
          <p:cNvPr id="5" name="Picture 4">
            <a:extLst>
              <a:ext uri="{FF2B5EF4-FFF2-40B4-BE49-F238E27FC236}">
                <a16:creationId xmlns:a16="http://schemas.microsoft.com/office/drawing/2014/main" id="{000B8CC1-AF07-597B-A93F-0ADAAE57C7B5}"/>
              </a:ext>
            </a:extLst>
          </p:cNvPr>
          <p:cNvPicPr>
            <a:picLocks noChangeAspect="1"/>
          </p:cNvPicPr>
          <p:nvPr/>
        </p:nvPicPr>
        <p:blipFill>
          <a:blip r:embed="rId2"/>
          <a:srcRect l="23911" r="752" b="-1"/>
          <a:stretch>
            <a:fillRect/>
          </a:stretch>
        </p:blipFill>
        <p:spPr>
          <a:xfrm>
            <a:off x="5733768" y="-1"/>
            <a:ext cx="6458232" cy="6858001"/>
          </a:xfrm>
          <a:custGeom>
            <a:avLst/>
            <a:gdLst/>
            <a:ahLst/>
            <a:cxnLst/>
            <a:rect l="l" t="t" r="r" b="b"/>
            <a:pathLst>
              <a:path w="6458232" h="6858001">
                <a:moveTo>
                  <a:pt x="2209000" y="0"/>
                </a:moveTo>
                <a:lnTo>
                  <a:pt x="6458232" y="0"/>
                </a:lnTo>
                <a:lnTo>
                  <a:pt x="6458232" y="6858001"/>
                </a:lnTo>
                <a:lnTo>
                  <a:pt x="651045" y="6858001"/>
                </a:lnTo>
                <a:lnTo>
                  <a:pt x="635146" y="6830200"/>
                </a:lnTo>
                <a:cubicBezTo>
                  <a:pt x="230085" y="6080469"/>
                  <a:pt x="0" y="5221296"/>
                  <a:pt x="0" y="4308089"/>
                </a:cubicBezTo>
                <a:cubicBezTo>
                  <a:pt x="0" y="2572997"/>
                  <a:pt x="830606" y="1032965"/>
                  <a:pt x="2113832" y="68046"/>
                </a:cubicBezTo>
                <a:close/>
              </a:path>
            </a:pathLst>
          </a:custGeom>
        </p:spPr>
      </p:pic>
      <p:sp>
        <p:nvSpPr>
          <p:cNvPr id="16" name="!!Rectangle">
            <a:extLst>
              <a:ext uri="{FF2B5EF4-FFF2-40B4-BE49-F238E27FC236}">
                <a16:creationId xmlns:a16="http://schemas.microsoft.com/office/drawing/2014/main" id="{95106A28-883A-4993-BF9E-C403B81A8D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94269" y="4274457"/>
            <a:ext cx="825256" cy="825256"/>
          </a:xfrm>
          <a:prstGeom prst="rect">
            <a:avLst/>
          </a:prstGeom>
          <a:noFill/>
          <a:ln w="127000">
            <a:solidFill>
              <a:schemeClr val="accent6"/>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8" name="!!Oval">
            <a:extLst>
              <a:ext uri="{FF2B5EF4-FFF2-40B4-BE49-F238E27FC236}">
                <a16:creationId xmlns:a16="http://schemas.microsoft.com/office/drawing/2014/main" id="{F5AE4E4F-9F4C-43ED-8299-9BD63B74E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742" y="5649686"/>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 name="Subtitle 2">
            <a:extLst>
              <a:ext uri="{FF2B5EF4-FFF2-40B4-BE49-F238E27FC236}">
                <a16:creationId xmlns:a16="http://schemas.microsoft.com/office/drawing/2014/main" id="{EDD6139A-D06B-4356-A5D6-9B88DA7FAB9E}"/>
              </a:ext>
            </a:extLst>
          </p:cNvPr>
          <p:cNvSpPr txBox="1">
            <a:spLocks/>
          </p:cNvSpPr>
          <p:nvPr/>
        </p:nvSpPr>
        <p:spPr>
          <a:xfrm>
            <a:off x="1524000" y="5158631"/>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NL" sz="2000" dirty="0">
                <a:latin typeface="Aptos" panose="020B0004020202020204" pitchFamily="34" charset="0"/>
              </a:rPr>
              <a:t>Tomiris </a:t>
            </a:r>
            <a:r>
              <a:rPr lang="en-NL" sz="2000" dirty="0" err="1">
                <a:latin typeface="Aptos" panose="020B0004020202020204" pitchFamily="34" charset="0"/>
              </a:rPr>
              <a:t>Gilazh</a:t>
            </a:r>
            <a:endParaRPr lang="en-US" sz="2000" dirty="0">
              <a:latin typeface="Aptos" panose="020B0004020202020204" pitchFamily="34" charset="0"/>
            </a:endParaRPr>
          </a:p>
          <a:p>
            <a:pPr algn="l"/>
            <a:r>
              <a:rPr lang="en-NL" sz="2000" dirty="0">
                <a:latin typeface="Aptos" panose="020B0004020202020204" pitchFamily="34" charset="0"/>
              </a:rPr>
              <a:t>David </a:t>
            </a:r>
            <a:r>
              <a:rPr lang="en-NL" sz="2000" dirty="0" err="1">
                <a:latin typeface="Aptos" panose="020B0004020202020204" pitchFamily="34" charset="0"/>
              </a:rPr>
              <a:t>Leitritz</a:t>
            </a:r>
            <a:endParaRPr lang="en-US" sz="2000" dirty="0">
              <a:latin typeface="Aptos" panose="020B0004020202020204" pitchFamily="34" charset="0"/>
            </a:endParaRPr>
          </a:p>
          <a:p>
            <a:pPr algn="l"/>
            <a:r>
              <a:rPr lang="en-NL" sz="2000" dirty="0">
                <a:latin typeface="Aptos" panose="020B0004020202020204" pitchFamily="34" charset="0"/>
              </a:rPr>
              <a:t>Ilaria Francesca Lunardelli</a:t>
            </a:r>
          </a:p>
        </p:txBody>
      </p:sp>
    </p:spTree>
    <p:extLst>
      <p:ext uri="{BB962C8B-B14F-4D97-AF65-F5344CB8AC3E}">
        <p14:creationId xmlns:p14="http://schemas.microsoft.com/office/powerpoint/2010/main" val="2085872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CD4AA-BA5C-71F8-F212-C45A214F0193}"/>
              </a:ext>
            </a:extLst>
          </p:cNvPr>
          <p:cNvSpPr>
            <a:spLocks noGrp="1"/>
          </p:cNvSpPr>
          <p:nvPr>
            <p:ph type="title"/>
          </p:nvPr>
        </p:nvSpPr>
        <p:spPr/>
        <p:txBody>
          <a:bodyPr/>
          <a:lstStyle/>
          <a:p>
            <a:r>
              <a:rPr lang="en-US" b="1" dirty="0">
                <a:latin typeface="Aptos" panose="020B0004020202020204" pitchFamily="34" charset="0"/>
              </a:rPr>
              <a:t>CONTENTS</a:t>
            </a:r>
          </a:p>
        </p:txBody>
      </p:sp>
      <p:sp>
        <p:nvSpPr>
          <p:cNvPr id="3" name="Content Placeholder 2">
            <a:extLst>
              <a:ext uri="{FF2B5EF4-FFF2-40B4-BE49-F238E27FC236}">
                <a16:creationId xmlns:a16="http://schemas.microsoft.com/office/drawing/2014/main" id="{462B88E1-5B37-04A2-26AA-C1C21DF3DCAE}"/>
              </a:ext>
            </a:extLst>
          </p:cNvPr>
          <p:cNvSpPr>
            <a:spLocks noGrp="1"/>
          </p:cNvSpPr>
          <p:nvPr>
            <p:ph idx="1"/>
          </p:nvPr>
        </p:nvSpPr>
        <p:spPr>
          <a:xfrm>
            <a:off x="838200" y="1499128"/>
            <a:ext cx="10515600" cy="4110101"/>
          </a:xfrm>
        </p:spPr>
        <p:txBody>
          <a:bodyPr>
            <a:normAutofit fontScale="85000" lnSpcReduction="20000"/>
          </a:bodyPr>
          <a:lstStyle/>
          <a:p>
            <a:r>
              <a:rPr lang="en-US" dirty="0"/>
              <a:t>What is Livability score</a:t>
            </a:r>
          </a:p>
          <a:p>
            <a:r>
              <a:rPr lang="en-US" dirty="0"/>
              <a:t>Background literature</a:t>
            </a:r>
          </a:p>
          <a:p>
            <a:r>
              <a:rPr lang="en-US" dirty="0"/>
              <a:t>Research aim and questions</a:t>
            </a:r>
          </a:p>
          <a:p>
            <a:r>
              <a:rPr lang="en-US" dirty="0"/>
              <a:t>Overview of Livability score</a:t>
            </a:r>
          </a:p>
          <a:p>
            <a:r>
              <a:rPr lang="en-US" dirty="0"/>
              <a:t>Data</a:t>
            </a:r>
          </a:p>
          <a:p>
            <a:r>
              <a:rPr lang="en-US" dirty="0"/>
              <a:t>Methodology</a:t>
            </a:r>
          </a:p>
          <a:p>
            <a:r>
              <a:rPr lang="en-US" dirty="0"/>
              <a:t>Results</a:t>
            </a:r>
          </a:p>
          <a:p>
            <a:r>
              <a:rPr lang="en-US" dirty="0"/>
              <a:t>Discussion: findings</a:t>
            </a:r>
          </a:p>
          <a:p>
            <a:r>
              <a:rPr lang="en-US" dirty="0"/>
              <a:t>Discussion: limitations</a:t>
            </a:r>
          </a:p>
          <a:p>
            <a:r>
              <a:rPr lang="en-US" dirty="0"/>
              <a:t>Discussion: future work</a:t>
            </a:r>
          </a:p>
          <a:p>
            <a:r>
              <a:rPr lang="en-US" dirty="0"/>
              <a:t>Reproducibility</a:t>
            </a:r>
            <a:r>
              <a:rPr lang="ru-RU" dirty="0"/>
              <a:t> </a:t>
            </a:r>
            <a:r>
              <a:rPr lang="en-GB" dirty="0"/>
              <a:t>and ethnical considerations</a:t>
            </a:r>
            <a:endParaRPr lang="en-US" dirty="0"/>
          </a:p>
          <a:p>
            <a:r>
              <a:rPr lang="en-US" dirty="0"/>
              <a:t>References</a:t>
            </a:r>
          </a:p>
          <a:p>
            <a:endParaRPr lang="en-US" dirty="0"/>
          </a:p>
        </p:txBody>
      </p:sp>
    </p:spTree>
    <p:extLst>
      <p:ext uri="{BB962C8B-B14F-4D97-AF65-F5344CB8AC3E}">
        <p14:creationId xmlns:p14="http://schemas.microsoft.com/office/powerpoint/2010/main" val="37440387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5D309-BD8D-BF96-AE15-FD6F2E14DC39}"/>
              </a:ext>
            </a:extLst>
          </p:cNvPr>
          <p:cNvSpPr>
            <a:spLocks noGrp="1"/>
          </p:cNvSpPr>
          <p:nvPr>
            <p:ph type="title"/>
          </p:nvPr>
        </p:nvSpPr>
        <p:spPr/>
        <p:txBody>
          <a:bodyPr/>
          <a:lstStyle/>
          <a:p>
            <a:r>
              <a:rPr lang="en-US" b="1" dirty="0">
                <a:latin typeface="Aptos" panose="020B0004020202020204" pitchFamily="34" charset="0"/>
              </a:rPr>
              <a:t>WHAT IS LIVABILITY SCORE</a:t>
            </a:r>
          </a:p>
        </p:txBody>
      </p:sp>
      <p:sp>
        <p:nvSpPr>
          <p:cNvPr id="3" name="Content Placeholder 2">
            <a:extLst>
              <a:ext uri="{FF2B5EF4-FFF2-40B4-BE49-F238E27FC236}">
                <a16:creationId xmlns:a16="http://schemas.microsoft.com/office/drawing/2014/main" id="{2838A703-8E6A-3C14-DA4A-8978519EB3DB}"/>
              </a:ext>
            </a:extLst>
          </p:cNvPr>
          <p:cNvSpPr>
            <a:spLocks noGrp="1"/>
          </p:cNvSpPr>
          <p:nvPr>
            <p:ph idx="1"/>
          </p:nvPr>
        </p:nvSpPr>
        <p:spPr>
          <a:xfrm>
            <a:off x="838200" y="1591450"/>
            <a:ext cx="10515600" cy="3859742"/>
          </a:xfrm>
        </p:spPr>
        <p:txBody>
          <a:bodyPr/>
          <a:lstStyle/>
          <a:p>
            <a:r>
              <a:rPr lang="en-US" b="1" dirty="0"/>
              <a:t>Leefbaarometer</a:t>
            </a:r>
            <a:r>
              <a:rPr lang="ru-RU" dirty="0"/>
              <a:t> (</a:t>
            </a:r>
            <a:r>
              <a:rPr lang="en-GB" dirty="0"/>
              <a:t>Livability Meter) – an instrument that provides an estimate of livability based on a large number of characteristics of the residential environment.</a:t>
            </a:r>
          </a:p>
          <a:p>
            <a:r>
              <a:rPr lang="en-GB" dirty="0"/>
              <a:t>Is intended to provide a picture of where livability is expected to be good or poor; is a monitoring instrument</a:t>
            </a:r>
          </a:p>
          <a:p>
            <a:endParaRPr lang="ru-RU" dirty="0"/>
          </a:p>
          <a:p>
            <a:endParaRPr lang="en-US" dirty="0"/>
          </a:p>
        </p:txBody>
      </p:sp>
      <p:sp>
        <p:nvSpPr>
          <p:cNvPr id="4" name="TextBox 3">
            <a:extLst>
              <a:ext uri="{FF2B5EF4-FFF2-40B4-BE49-F238E27FC236}">
                <a16:creationId xmlns:a16="http://schemas.microsoft.com/office/drawing/2014/main" id="{935A0AC2-DDF9-DEE0-DFF4-CC79A7E30FFB}"/>
              </a:ext>
            </a:extLst>
          </p:cNvPr>
          <p:cNvSpPr txBox="1"/>
          <p:nvPr/>
        </p:nvSpPr>
        <p:spPr>
          <a:xfrm>
            <a:off x="838200" y="6211229"/>
            <a:ext cx="10346473" cy="276999"/>
          </a:xfrm>
          <a:prstGeom prst="rect">
            <a:avLst/>
          </a:prstGeom>
          <a:noFill/>
        </p:spPr>
        <p:txBody>
          <a:bodyPr wrap="square" rtlCol="0">
            <a:spAutoFit/>
          </a:bodyPr>
          <a:lstStyle/>
          <a:p>
            <a:r>
              <a:rPr lang="en-US" sz="1200" dirty="0"/>
              <a:t>Source: Leefbaarometer 3.0 </a:t>
            </a:r>
            <a:r>
              <a:rPr lang="en-US" sz="1200" dirty="0" err="1"/>
              <a:t>Instrumentontwikkeling</a:t>
            </a:r>
            <a:r>
              <a:rPr lang="en-US" sz="1200" dirty="0"/>
              <a:t> </a:t>
            </a:r>
            <a:r>
              <a:rPr lang="en-US" sz="1200" dirty="0">
                <a:hlinkClick r:id="rId2"/>
              </a:rPr>
              <a:t>https://www.leefbaarometer.nl/resources/LBM3Instrumentontwikkeling.pdf</a:t>
            </a:r>
            <a:r>
              <a:rPr lang="en-US" sz="1200" dirty="0"/>
              <a:t> </a:t>
            </a:r>
          </a:p>
        </p:txBody>
      </p:sp>
      <p:sp>
        <p:nvSpPr>
          <p:cNvPr id="5" name="Rounded Rectangle 4">
            <a:extLst>
              <a:ext uri="{FF2B5EF4-FFF2-40B4-BE49-F238E27FC236}">
                <a16:creationId xmlns:a16="http://schemas.microsoft.com/office/drawing/2014/main" id="{8A625C58-C048-815C-5253-11DC804B04AC}"/>
              </a:ext>
            </a:extLst>
          </p:cNvPr>
          <p:cNvSpPr/>
          <p:nvPr/>
        </p:nvSpPr>
        <p:spPr>
          <a:xfrm>
            <a:off x="1191322" y="3740587"/>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Environment</a:t>
            </a:r>
          </a:p>
        </p:txBody>
      </p:sp>
      <p:sp>
        <p:nvSpPr>
          <p:cNvPr id="6" name="Rounded Rectangle 5">
            <a:extLst>
              <a:ext uri="{FF2B5EF4-FFF2-40B4-BE49-F238E27FC236}">
                <a16:creationId xmlns:a16="http://schemas.microsoft.com/office/drawing/2014/main" id="{FDF02185-E1A3-55FD-4A51-51D2F638035C}"/>
              </a:ext>
            </a:extLst>
          </p:cNvPr>
          <p:cNvSpPr/>
          <p:nvPr/>
        </p:nvSpPr>
        <p:spPr>
          <a:xfrm>
            <a:off x="3183673" y="3740587"/>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Housing</a:t>
            </a:r>
          </a:p>
        </p:txBody>
      </p:sp>
      <p:sp>
        <p:nvSpPr>
          <p:cNvPr id="7" name="Rounded Rectangle 6">
            <a:extLst>
              <a:ext uri="{FF2B5EF4-FFF2-40B4-BE49-F238E27FC236}">
                <a16:creationId xmlns:a16="http://schemas.microsoft.com/office/drawing/2014/main" id="{1E59471D-39F4-FEEB-2D92-DC9142EC690A}"/>
              </a:ext>
            </a:extLst>
          </p:cNvPr>
          <p:cNvSpPr/>
          <p:nvPr/>
        </p:nvSpPr>
        <p:spPr>
          <a:xfrm>
            <a:off x="5176024" y="3740586"/>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Amenities</a:t>
            </a:r>
          </a:p>
        </p:txBody>
      </p:sp>
      <p:sp>
        <p:nvSpPr>
          <p:cNvPr id="8" name="Rounded Rectangle 7">
            <a:extLst>
              <a:ext uri="{FF2B5EF4-FFF2-40B4-BE49-F238E27FC236}">
                <a16:creationId xmlns:a16="http://schemas.microsoft.com/office/drawing/2014/main" id="{D1CC55CD-7811-E068-5A7C-6235908397AA}"/>
              </a:ext>
            </a:extLst>
          </p:cNvPr>
          <p:cNvSpPr/>
          <p:nvPr/>
        </p:nvSpPr>
        <p:spPr>
          <a:xfrm>
            <a:off x="7168375" y="3740585"/>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Social</a:t>
            </a:r>
            <a:r>
              <a:rPr lang="en-US" dirty="0"/>
              <a:t> </a:t>
            </a:r>
            <a:r>
              <a:rPr lang="en-US" dirty="0">
                <a:solidFill>
                  <a:schemeClr val="tx1"/>
                </a:solidFill>
              </a:rPr>
              <a:t>cohesion</a:t>
            </a:r>
          </a:p>
        </p:txBody>
      </p:sp>
      <p:sp>
        <p:nvSpPr>
          <p:cNvPr id="9" name="Rounded Rectangle 8">
            <a:extLst>
              <a:ext uri="{FF2B5EF4-FFF2-40B4-BE49-F238E27FC236}">
                <a16:creationId xmlns:a16="http://schemas.microsoft.com/office/drawing/2014/main" id="{6C4F4B04-1FFE-9456-9874-1E9852CD1A4E}"/>
              </a:ext>
            </a:extLst>
          </p:cNvPr>
          <p:cNvSpPr/>
          <p:nvPr/>
        </p:nvSpPr>
        <p:spPr>
          <a:xfrm>
            <a:off x="9160726" y="3740585"/>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Safety</a:t>
            </a:r>
          </a:p>
        </p:txBody>
      </p:sp>
    </p:spTree>
    <p:extLst>
      <p:ext uri="{BB962C8B-B14F-4D97-AF65-F5344CB8AC3E}">
        <p14:creationId xmlns:p14="http://schemas.microsoft.com/office/powerpoint/2010/main" val="9396033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98250-9428-263F-C9C5-5A97E199F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7888F-CF55-7EDD-093F-A0C54340FC31}"/>
              </a:ext>
            </a:extLst>
          </p:cNvPr>
          <p:cNvSpPr>
            <a:spLocks noGrp="1"/>
          </p:cNvSpPr>
          <p:nvPr>
            <p:ph type="title"/>
          </p:nvPr>
        </p:nvSpPr>
        <p:spPr/>
        <p:txBody>
          <a:bodyPr>
            <a:normAutofit/>
          </a:bodyPr>
          <a:lstStyle/>
          <a:p>
            <a:r>
              <a:rPr lang="en-US" sz="4000" b="1" dirty="0">
                <a:latin typeface="Aptos" panose="020B0004020202020204" pitchFamily="34" charset="0"/>
              </a:rPr>
              <a:t>BACKGROUND LITERATURE</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7221B41F-0191-34FF-5243-69C449026F90}"/>
              </a:ext>
            </a:extLst>
          </p:cNvPr>
          <p:cNvSpPr>
            <a:spLocks noGrp="1"/>
          </p:cNvSpPr>
          <p:nvPr>
            <p:ph idx="1"/>
          </p:nvPr>
        </p:nvSpPr>
        <p:spPr/>
        <p:txBody>
          <a:bodyPr>
            <a:normAutofit fontScale="92500" lnSpcReduction="20000"/>
          </a:bodyPr>
          <a:lstStyle/>
          <a:p>
            <a:r>
              <a:rPr lang="en-GB" sz="2000" dirty="0"/>
              <a:t>Concept of ‘livability’ is very fluid and changes over time (Kaal, 2011; </a:t>
            </a:r>
            <a:r>
              <a:rPr lang="en-GB" sz="2000" dirty="0" err="1"/>
              <a:t>Mandemakers</a:t>
            </a:r>
            <a:r>
              <a:rPr lang="en-GB" sz="2000" dirty="0"/>
              <a:t> et al., 2021).</a:t>
            </a:r>
          </a:p>
          <a:p>
            <a:r>
              <a:rPr lang="en-GB" sz="2000" dirty="0"/>
              <a:t>Livability meter is meant to reflect what people value. The model includes variables that are objective measures of environment. However, the dimensions are selected based on survey from 2018 and housing market choices data 2019-2022 (</a:t>
            </a:r>
            <a:r>
              <a:rPr lang="en-GB" sz="2000" dirty="0" err="1"/>
              <a:t>Mandemakers</a:t>
            </a:r>
            <a:r>
              <a:rPr lang="en-GB" sz="2000" dirty="0"/>
              <a:t> et al., 2021).</a:t>
            </a:r>
          </a:p>
          <a:p>
            <a:pPr marL="0" indent="0">
              <a:buNone/>
            </a:pPr>
            <a:endParaRPr lang="en-GB" sz="2000" dirty="0"/>
          </a:p>
          <a:p>
            <a:r>
              <a:rPr lang="en-GB" sz="2000" dirty="0"/>
              <a:t>Limitations:</a:t>
            </a:r>
            <a:br>
              <a:rPr lang="en-GB" sz="2000" dirty="0"/>
            </a:br>
            <a:r>
              <a:rPr lang="en-GB" sz="2000" dirty="0"/>
              <a:t>- potential outdatedness of the opinions from 2018 and doesn’t include them in the model;</a:t>
            </a:r>
            <a:br>
              <a:rPr lang="en-GB" sz="2000" dirty="0"/>
            </a:br>
            <a:r>
              <a:rPr lang="en-GB" sz="2000" dirty="0"/>
              <a:t>- poor representativeness of housing market choices as fewer people are able to purchase houses and the first-time buyers age has been increasing (CBS, 2026; Lennartz et al., 2019);</a:t>
            </a:r>
            <a:br>
              <a:rPr lang="en-GB" sz="2000" dirty="0"/>
            </a:br>
            <a:r>
              <a:rPr lang="en-GB" sz="2000" dirty="0"/>
              <a:t>- the dimensions are not necessarily comprehensive – based on the availability of data</a:t>
            </a:r>
          </a:p>
        </p:txBody>
      </p:sp>
    </p:spTree>
    <p:extLst>
      <p:ext uri="{BB962C8B-B14F-4D97-AF65-F5344CB8AC3E}">
        <p14:creationId xmlns:p14="http://schemas.microsoft.com/office/powerpoint/2010/main" val="14867672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114CE-3A47-AFD5-8B03-147194BCDE56}"/>
              </a:ext>
            </a:extLst>
          </p:cNvPr>
          <p:cNvSpPr>
            <a:spLocks noGrp="1"/>
          </p:cNvSpPr>
          <p:nvPr>
            <p:ph type="title"/>
          </p:nvPr>
        </p:nvSpPr>
        <p:spPr/>
        <p:txBody>
          <a:bodyPr/>
          <a:lstStyle/>
          <a:p>
            <a:r>
              <a:rPr lang="en-US" b="1" dirty="0"/>
              <a:t>RESEARCH AIM &amp; OBJECTIVES</a:t>
            </a:r>
          </a:p>
        </p:txBody>
      </p:sp>
      <p:sp>
        <p:nvSpPr>
          <p:cNvPr id="3" name="Content Placeholder 2">
            <a:extLst>
              <a:ext uri="{FF2B5EF4-FFF2-40B4-BE49-F238E27FC236}">
                <a16:creationId xmlns:a16="http://schemas.microsoft.com/office/drawing/2014/main" id="{18DFE17C-99DB-E666-E7C2-0E384C99A025}"/>
              </a:ext>
            </a:extLst>
          </p:cNvPr>
          <p:cNvSpPr>
            <a:spLocks noGrp="1"/>
          </p:cNvSpPr>
          <p:nvPr>
            <p:ph idx="1"/>
          </p:nvPr>
        </p:nvSpPr>
        <p:spPr/>
        <p:txBody>
          <a:bodyPr/>
          <a:lstStyle/>
          <a:p>
            <a:pPr marL="0" indent="0">
              <a:buNone/>
            </a:pPr>
            <a:r>
              <a:rPr lang="en-US" dirty="0"/>
              <a:t>We aim to investigate which predictors available from survey and administrative data can predict the livability scores.</a:t>
            </a:r>
          </a:p>
          <a:p>
            <a:pPr marL="0" indent="0">
              <a:buNone/>
            </a:pPr>
            <a:endParaRPr lang="en-US" dirty="0"/>
          </a:p>
          <a:p>
            <a:pPr marL="0" indent="0">
              <a:buNone/>
            </a:pPr>
            <a:r>
              <a:rPr lang="en-US" dirty="0"/>
              <a:t>Objectives:</a:t>
            </a:r>
          </a:p>
          <a:p>
            <a:pPr marL="0" indent="0">
              <a:buNone/>
            </a:pPr>
            <a:r>
              <a:rPr lang="en-US" dirty="0"/>
              <a:t>- Use Exposome, </a:t>
            </a:r>
            <a:r>
              <a:rPr lang="en-US" dirty="0" err="1"/>
              <a:t>Firmbackbone</a:t>
            </a:r>
            <a:r>
              <a:rPr lang="en-US" dirty="0"/>
              <a:t>, LISS to explore predictors for livability that match the Livability meter dimensions and also go beyond;</a:t>
            </a:r>
          </a:p>
          <a:p>
            <a:pPr>
              <a:buFontTx/>
              <a:buChar char="-"/>
            </a:pPr>
            <a:r>
              <a:rPr lang="en-US" dirty="0"/>
              <a:t>Compare “objective” and “subjective” livability.</a:t>
            </a:r>
          </a:p>
        </p:txBody>
      </p:sp>
    </p:spTree>
    <p:extLst>
      <p:ext uri="{BB962C8B-B14F-4D97-AF65-F5344CB8AC3E}">
        <p14:creationId xmlns:p14="http://schemas.microsoft.com/office/powerpoint/2010/main" val="245806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780B8-1D4D-2196-D574-C778F0FAA6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E4E09E-B465-656A-B9A8-B3524CD432EE}"/>
              </a:ext>
            </a:extLst>
          </p:cNvPr>
          <p:cNvSpPr>
            <a:spLocks noGrp="1"/>
          </p:cNvSpPr>
          <p:nvPr>
            <p:ph type="title"/>
          </p:nvPr>
        </p:nvSpPr>
        <p:spPr/>
        <p:txBody>
          <a:bodyPr/>
          <a:lstStyle/>
          <a:p>
            <a:r>
              <a:rPr lang="en-US" b="1" dirty="0"/>
              <a:t>RESEARCH QUESTIONS</a:t>
            </a:r>
          </a:p>
        </p:txBody>
      </p:sp>
      <p:sp>
        <p:nvSpPr>
          <p:cNvPr id="3" name="Content Placeholder 2">
            <a:extLst>
              <a:ext uri="{FF2B5EF4-FFF2-40B4-BE49-F238E27FC236}">
                <a16:creationId xmlns:a16="http://schemas.microsoft.com/office/drawing/2014/main" id="{CCA3BEB6-BB5F-38E3-EC09-415912A4E9DD}"/>
              </a:ext>
            </a:extLst>
          </p:cNvPr>
          <p:cNvSpPr>
            <a:spLocks noGrp="1"/>
          </p:cNvSpPr>
          <p:nvPr>
            <p:ph idx="1"/>
          </p:nvPr>
        </p:nvSpPr>
        <p:spPr/>
        <p:txBody>
          <a:bodyPr/>
          <a:lstStyle/>
          <a:p>
            <a:pPr marL="457200" indent="-457200">
              <a:buAutoNum type="arabicPeriod"/>
            </a:pPr>
            <a:r>
              <a:rPr lang="en-GB" dirty="0"/>
              <a:t>What alternative model using administrative data can predict livability score in the Netherlands?</a:t>
            </a:r>
            <a:r>
              <a:rPr lang="ru-RU" dirty="0"/>
              <a:t> </a:t>
            </a:r>
            <a:endParaRPr lang="en-GB" dirty="0"/>
          </a:p>
          <a:p>
            <a:pPr marL="457200" indent="-457200">
              <a:buAutoNum type="arabicPeriod"/>
            </a:pPr>
            <a:r>
              <a:rPr lang="en-GB" dirty="0"/>
              <a:t>What alternative model using survey data can predict livability score in the Netherlands?</a:t>
            </a:r>
          </a:p>
          <a:p>
            <a:pPr marL="457200" indent="-457200">
              <a:buAutoNum type="arabicPeriod"/>
            </a:pPr>
            <a:r>
              <a:rPr lang="en-GB" dirty="0"/>
              <a:t>What are the differences between predicted (administrative and survey-based) and official livability scores?</a:t>
            </a:r>
            <a:endParaRPr lang="en-US" dirty="0"/>
          </a:p>
        </p:txBody>
      </p:sp>
    </p:spTree>
    <p:extLst>
      <p:ext uri="{BB962C8B-B14F-4D97-AF65-F5344CB8AC3E}">
        <p14:creationId xmlns:p14="http://schemas.microsoft.com/office/powerpoint/2010/main" val="3445527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D5AA4-39E8-7D88-FF14-AEEA7CC8AC7B}"/>
              </a:ext>
            </a:extLst>
          </p:cNvPr>
          <p:cNvSpPr>
            <a:spLocks noGrp="1"/>
          </p:cNvSpPr>
          <p:nvPr>
            <p:ph type="title"/>
          </p:nvPr>
        </p:nvSpPr>
        <p:spPr/>
        <p:txBody>
          <a:bodyPr>
            <a:normAutofit/>
          </a:bodyPr>
          <a:lstStyle/>
          <a:p>
            <a:r>
              <a:rPr lang="en-US" sz="4000" b="1" dirty="0">
                <a:latin typeface="Aptos" panose="020B0004020202020204" pitchFamily="34" charset="0"/>
              </a:rPr>
              <a:t>LIVABILITY SCORE</a:t>
            </a:r>
            <a:endParaRPr lang="en-NL" sz="4000" dirty="0"/>
          </a:p>
        </p:txBody>
      </p:sp>
      <p:sp>
        <p:nvSpPr>
          <p:cNvPr id="3" name="Content Placeholder 2">
            <a:extLst>
              <a:ext uri="{FF2B5EF4-FFF2-40B4-BE49-F238E27FC236}">
                <a16:creationId xmlns:a16="http://schemas.microsoft.com/office/drawing/2014/main" id="{532078A8-6BB5-7041-FA15-FF26060FEB86}"/>
              </a:ext>
            </a:extLst>
          </p:cNvPr>
          <p:cNvSpPr>
            <a:spLocks noGrp="1"/>
          </p:cNvSpPr>
          <p:nvPr>
            <p:ph idx="1"/>
          </p:nvPr>
        </p:nvSpPr>
        <p:spPr>
          <a:xfrm>
            <a:off x="838200" y="1499129"/>
            <a:ext cx="10515600" cy="3859742"/>
          </a:xfrm>
        </p:spPr>
        <p:txBody>
          <a:bodyPr/>
          <a:lstStyle/>
          <a:p>
            <a:r>
              <a:rPr lang="en-US" dirty="0"/>
              <a:t>OVERVIEW OF DIMENSIONS</a:t>
            </a:r>
            <a:r>
              <a:rPr lang="ru-RU" dirty="0"/>
              <a:t> (</a:t>
            </a:r>
            <a:r>
              <a:rPr lang="ru-RU" dirty="0" err="1"/>
              <a:t>m</a:t>
            </a:r>
            <a:r>
              <a:rPr lang="en-GB" dirty="0"/>
              <a:t>ore details in the following slide)</a:t>
            </a:r>
          </a:p>
          <a:p>
            <a:endParaRPr lang="en-GB" dirty="0"/>
          </a:p>
          <a:p>
            <a:endParaRPr lang="en-GB" dirty="0"/>
          </a:p>
          <a:p>
            <a:endParaRPr lang="en-GB" dirty="0"/>
          </a:p>
          <a:p>
            <a:pPr marL="0" indent="0">
              <a:buNone/>
            </a:pPr>
            <a:endParaRPr lang="en-GB" dirty="0"/>
          </a:p>
          <a:p>
            <a:pPr marL="0" indent="0">
              <a:buNone/>
            </a:pPr>
            <a:endParaRPr lang="en-GB" dirty="0"/>
          </a:p>
          <a:p>
            <a:r>
              <a:rPr lang="en-US" dirty="0"/>
              <a:t>VISUALIZATION in Shiny Dashboard</a:t>
            </a:r>
            <a:endParaRPr lang="en-NL" dirty="0"/>
          </a:p>
        </p:txBody>
      </p:sp>
      <p:sp>
        <p:nvSpPr>
          <p:cNvPr id="9" name="Rounded Rectangle 8">
            <a:extLst>
              <a:ext uri="{FF2B5EF4-FFF2-40B4-BE49-F238E27FC236}">
                <a16:creationId xmlns:a16="http://schemas.microsoft.com/office/drawing/2014/main" id="{98B4C42F-10D3-D851-96CF-7A1017EDD3BB}"/>
              </a:ext>
            </a:extLst>
          </p:cNvPr>
          <p:cNvSpPr/>
          <p:nvPr/>
        </p:nvSpPr>
        <p:spPr>
          <a:xfrm>
            <a:off x="838200" y="2203532"/>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Environment</a:t>
            </a:r>
          </a:p>
        </p:txBody>
      </p:sp>
      <p:sp>
        <p:nvSpPr>
          <p:cNvPr id="10" name="Rounded Rectangle 9">
            <a:extLst>
              <a:ext uri="{FF2B5EF4-FFF2-40B4-BE49-F238E27FC236}">
                <a16:creationId xmlns:a16="http://schemas.microsoft.com/office/drawing/2014/main" id="{46085A97-EA68-2DEA-E42F-513D745E3F14}"/>
              </a:ext>
            </a:extLst>
          </p:cNvPr>
          <p:cNvSpPr/>
          <p:nvPr/>
        </p:nvSpPr>
        <p:spPr>
          <a:xfrm>
            <a:off x="2830551" y="2203532"/>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Housing</a:t>
            </a:r>
          </a:p>
        </p:txBody>
      </p:sp>
      <p:sp>
        <p:nvSpPr>
          <p:cNvPr id="11" name="Rounded Rectangle 10">
            <a:extLst>
              <a:ext uri="{FF2B5EF4-FFF2-40B4-BE49-F238E27FC236}">
                <a16:creationId xmlns:a16="http://schemas.microsoft.com/office/drawing/2014/main" id="{3FE1837C-3F85-D5DF-6A7A-007D4BAB7E88}"/>
              </a:ext>
            </a:extLst>
          </p:cNvPr>
          <p:cNvSpPr/>
          <p:nvPr/>
        </p:nvSpPr>
        <p:spPr>
          <a:xfrm>
            <a:off x="4822902" y="2203531"/>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Amenities</a:t>
            </a:r>
          </a:p>
        </p:txBody>
      </p:sp>
      <p:sp>
        <p:nvSpPr>
          <p:cNvPr id="12" name="Rounded Rectangle 11">
            <a:extLst>
              <a:ext uri="{FF2B5EF4-FFF2-40B4-BE49-F238E27FC236}">
                <a16:creationId xmlns:a16="http://schemas.microsoft.com/office/drawing/2014/main" id="{66A37F30-DA56-4A91-049A-17DBAA5BFDBA}"/>
              </a:ext>
            </a:extLst>
          </p:cNvPr>
          <p:cNvSpPr/>
          <p:nvPr/>
        </p:nvSpPr>
        <p:spPr>
          <a:xfrm>
            <a:off x="6815253" y="2203530"/>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Social</a:t>
            </a:r>
            <a:r>
              <a:rPr lang="en-US" dirty="0"/>
              <a:t> </a:t>
            </a:r>
            <a:r>
              <a:rPr lang="en-US" dirty="0">
                <a:solidFill>
                  <a:schemeClr val="tx1"/>
                </a:solidFill>
              </a:rPr>
              <a:t>cohesion</a:t>
            </a:r>
          </a:p>
        </p:txBody>
      </p:sp>
      <p:sp>
        <p:nvSpPr>
          <p:cNvPr id="13" name="Rounded Rectangle 12">
            <a:extLst>
              <a:ext uri="{FF2B5EF4-FFF2-40B4-BE49-F238E27FC236}">
                <a16:creationId xmlns:a16="http://schemas.microsoft.com/office/drawing/2014/main" id="{D0648173-59EC-57BF-44DA-7B1629A96B04}"/>
              </a:ext>
            </a:extLst>
          </p:cNvPr>
          <p:cNvSpPr/>
          <p:nvPr/>
        </p:nvSpPr>
        <p:spPr>
          <a:xfrm>
            <a:off x="8807604" y="2203530"/>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Safety</a:t>
            </a:r>
          </a:p>
        </p:txBody>
      </p:sp>
    </p:spTree>
    <p:extLst>
      <p:ext uri="{BB962C8B-B14F-4D97-AF65-F5344CB8AC3E}">
        <p14:creationId xmlns:p14="http://schemas.microsoft.com/office/powerpoint/2010/main" val="9297697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47DC7B0-801F-F792-2FCD-4C6AA0CABA9D}"/>
              </a:ext>
            </a:extLst>
          </p:cNvPr>
          <p:cNvGraphicFramePr>
            <a:graphicFrameLocks noGrp="1"/>
          </p:cNvGraphicFramePr>
          <p:nvPr>
            <p:extLst>
              <p:ext uri="{D42A27DB-BD31-4B8C-83A1-F6EECF244321}">
                <p14:modId xmlns:p14="http://schemas.microsoft.com/office/powerpoint/2010/main" val="1321921666"/>
              </p:ext>
            </p:extLst>
          </p:nvPr>
        </p:nvGraphicFramePr>
        <p:xfrm>
          <a:off x="0" y="0"/>
          <a:ext cx="12192000" cy="6858000"/>
        </p:xfrm>
        <a:graphic>
          <a:graphicData uri="http://schemas.openxmlformats.org/drawingml/2006/table">
            <a:tbl>
              <a:tblPr firstRow="1" firstCol="1" bandRow="1">
                <a:tableStyleId>{91EBBBCC-DAD2-459C-BE2E-F6DE35CF9A28}</a:tableStyleId>
              </a:tblPr>
              <a:tblGrid>
                <a:gridCol w="2031416">
                  <a:extLst>
                    <a:ext uri="{9D8B030D-6E8A-4147-A177-3AD203B41FA5}">
                      <a16:colId xmlns:a16="http://schemas.microsoft.com/office/drawing/2014/main" val="3660263680"/>
                    </a:ext>
                  </a:extLst>
                </a:gridCol>
                <a:gridCol w="2032292">
                  <a:extLst>
                    <a:ext uri="{9D8B030D-6E8A-4147-A177-3AD203B41FA5}">
                      <a16:colId xmlns:a16="http://schemas.microsoft.com/office/drawing/2014/main" val="648409947"/>
                    </a:ext>
                  </a:extLst>
                </a:gridCol>
                <a:gridCol w="2032292">
                  <a:extLst>
                    <a:ext uri="{9D8B030D-6E8A-4147-A177-3AD203B41FA5}">
                      <a16:colId xmlns:a16="http://schemas.microsoft.com/office/drawing/2014/main" val="2368400089"/>
                    </a:ext>
                  </a:extLst>
                </a:gridCol>
                <a:gridCol w="2031416">
                  <a:extLst>
                    <a:ext uri="{9D8B030D-6E8A-4147-A177-3AD203B41FA5}">
                      <a16:colId xmlns:a16="http://schemas.microsoft.com/office/drawing/2014/main" val="51067763"/>
                    </a:ext>
                  </a:extLst>
                </a:gridCol>
                <a:gridCol w="2032292">
                  <a:extLst>
                    <a:ext uri="{9D8B030D-6E8A-4147-A177-3AD203B41FA5}">
                      <a16:colId xmlns:a16="http://schemas.microsoft.com/office/drawing/2014/main" val="3037930058"/>
                    </a:ext>
                  </a:extLst>
                </a:gridCol>
                <a:gridCol w="2032292">
                  <a:extLst>
                    <a:ext uri="{9D8B030D-6E8A-4147-A177-3AD203B41FA5}">
                      <a16:colId xmlns:a16="http://schemas.microsoft.com/office/drawing/2014/main" val="1202942625"/>
                    </a:ext>
                  </a:extLst>
                </a:gridCol>
              </a:tblGrid>
              <a:tr h="365039">
                <a:tc gridSpan="2">
                  <a:txBody>
                    <a:bodyPr/>
                    <a:lstStyle/>
                    <a:p>
                      <a:pPr algn="ctr">
                        <a:lnSpc>
                          <a:spcPct val="115000"/>
                        </a:lnSpc>
                        <a:spcAft>
                          <a:spcPts val="800"/>
                        </a:spcAft>
                        <a:buNone/>
                      </a:pPr>
                      <a:r>
                        <a:rPr lang="en-GB" sz="1400" kern="100" dirty="0">
                          <a:effectLst/>
                        </a:rPr>
                        <a:t>Environment</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algn="ctr">
                        <a:lnSpc>
                          <a:spcPct val="115000"/>
                        </a:lnSpc>
                        <a:spcAft>
                          <a:spcPts val="800"/>
                        </a:spcAft>
                        <a:buNone/>
                      </a:pPr>
                      <a:r>
                        <a:rPr lang="en-GB" sz="1400" kern="100" dirty="0">
                          <a:effectLst/>
                        </a:rPr>
                        <a:t>Housing</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kern="100" dirty="0">
                          <a:effectLst/>
                        </a:rPr>
                        <a:t>Amenities</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kern="100" dirty="0">
                          <a:effectLst/>
                        </a:rPr>
                        <a:t>Social cohesion</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kern="100" dirty="0">
                          <a:effectLst/>
                        </a:rPr>
                        <a:t>Safety</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559469"/>
                  </a:ext>
                </a:extLst>
              </a:tr>
              <a:tr h="365039">
                <a:tc>
                  <a:txBody>
                    <a:bodyPr/>
                    <a:lstStyle/>
                    <a:p>
                      <a:pPr algn="ctr">
                        <a:lnSpc>
                          <a:spcPct val="115000"/>
                        </a:lnSpc>
                        <a:spcAft>
                          <a:spcPts val="800"/>
                        </a:spcAft>
                        <a:buNone/>
                      </a:pPr>
                      <a:r>
                        <a:rPr lang="en-GB" sz="1400" kern="100" dirty="0">
                          <a:effectLst/>
                        </a:rPr>
                        <a:t>Natural environment</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b="1" kern="100" dirty="0">
                          <a:effectLst/>
                        </a:rPr>
                        <a:t>Infrastructure</a:t>
                      </a:r>
                      <a:endParaRPr lang="en-GB" sz="14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8826315"/>
                  </a:ext>
                </a:extLst>
              </a:tr>
              <a:tr h="6127922">
                <a:tc>
                  <a:txBody>
                    <a:bodyPr/>
                    <a:lstStyle/>
                    <a:p>
                      <a:pPr>
                        <a:lnSpc>
                          <a:spcPct val="115000"/>
                        </a:lnSpc>
                        <a:spcAft>
                          <a:spcPts val="800"/>
                        </a:spcAft>
                        <a:buNone/>
                      </a:pPr>
                      <a:r>
                        <a:rPr lang="en-GB" sz="1400" b="0" kern="100" dirty="0">
                          <a:effectLst/>
                        </a:rPr>
                        <a:t>Air quality</a:t>
                      </a:r>
                    </a:p>
                    <a:p>
                      <a:pPr>
                        <a:lnSpc>
                          <a:spcPct val="115000"/>
                        </a:lnSpc>
                        <a:spcAft>
                          <a:spcPts val="800"/>
                        </a:spcAft>
                        <a:buNone/>
                      </a:pPr>
                      <a:r>
                        <a:rPr lang="en-GB" sz="1400" b="0" kern="100" dirty="0">
                          <a:effectLst/>
                        </a:rPr>
                        <a:t>Noise pollution</a:t>
                      </a:r>
                    </a:p>
                    <a:p>
                      <a:pPr>
                        <a:lnSpc>
                          <a:spcPct val="115000"/>
                        </a:lnSpc>
                        <a:spcAft>
                          <a:spcPts val="800"/>
                        </a:spcAft>
                        <a:buNone/>
                      </a:pPr>
                      <a:r>
                        <a:rPr lang="en-GB" sz="1400" b="0" kern="100" dirty="0">
                          <a:effectLst/>
                        </a:rPr>
                        <a:t>Non-ionizing radiation</a:t>
                      </a:r>
                    </a:p>
                    <a:p>
                      <a:pPr>
                        <a:lnSpc>
                          <a:spcPct val="115000"/>
                        </a:lnSpc>
                        <a:spcAft>
                          <a:spcPts val="800"/>
                        </a:spcAft>
                        <a:buNone/>
                      </a:pPr>
                      <a:r>
                        <a:rPr lang="en-GB" sz="1400" b="0" kern="100" dirty="0">
                          <a:effectLst/>
                        </a:rPr>
                        <a:t>Feels like temperature/heat stress</a:t>
                      </a:r>
                    </a:p>
                    <a:p>
                      <a:pPr>
                        <a:lnSpc>
                          <a:spcPct val="115000"/>
                        </a:lnSpc>
                        <a:spcAft>
                          <a:spcPts val="800"/>
                        </a:spcAft>
                        <a:buNone/>
                      </a:pPr>
                      <a:r>
                        <a:rPr lang="en-GB" sz="1400" b="0" kern="100" dirty="0">
                          <a:effectLst/>
                        </a:rPr>
                        <a:t>Flooding</a:t>
                      </a:r>
                    </a:p>
                    <a:p>
                      <a:pPr>
                        <a:lnSpc>
                          <a:spcPct val="115000"/>
                        </a:lnSpc>
                        <a:spcAft>
                          <a:spcPts val="800"/>
                        </a:spcAft>
                        <a:buNone/>
                      </a:pPr>
                      <a:r>
                        <a:rPr lang="en-GB" sz="1400" b="0" kern="100" dirty="0">
                          <a:effectLst/>
                        </a:rPr>
                        <a:t>Groundwater nuisance/soil subsidence</a:t>
                      </a:r>
                    </a:p>
                    <a:p>
                      <a:pPr>
                        <a:lnSpc>
                          <a:spcPct val="115000"/>
                        </a:lnSpc>
                        <a:spcAft>
                          <a:spcPts val="800"/>
                        </a:spcAft>
                        <a:buNone/>
                      </a:pPr>
                      <a:r>
                        <a:rPr lang="en-GB" sz="1400" b="0" kern="100" dirty="0">
                          <a:effectLst/>
                        </a:rPr>
                        <a:t>Earthquakes</a:t>
                      </a:r>
                    </a:p>
                    <a:p>
                      <a:pPr>
                        <a:lnSpc>
                          <a:spcPct val="115000"/>
                        </a:lnSpc>
                        <a:spcAft>
                          <a:spcPts val="800"/>
                        </a:spcAft>
                        <a:buNone/>
                      </a:pPr>
                      <a:r>
                        <a:rPr lang="en-GB" sz="1400" b="0" kern="100" dirty="0">
                          <a:effectLst/>
                        </a:rPr>
                        <a:t>Flood depth</a:t>
                      </a:r>
                    </a:p>
                    <a:p>
                      <a:pPr>
                        <a:lnSpc>
                          <a:spcPct val="115000"/>
                        </a:lnSpc>
                        <a:spcAft>
                          <a:spcPts val="800"/>
                        </a:spcAft>
                        <a:buNone/>
                      </a:pPr>
                      <a:r>
                        <a:rPr lang="en-GB" sz="1400" b="0" kern="100" dirty="0">
                          <a:effectLst/>
                        </a:rPr>
                        <a:t>Proximity to forest/green space</a:t>
                      </a:r>
                    </a:p>
                    <a:p>
                      <a:pPr>
                        <a:lnSpc>
                          <a:spcPct val="115000"/>
                        </a:lnSpc>
                        <a:spcAft>
                          <a:spcPts val="800"/>
                        </a:spcAft>
                        <a:buNone/>
                      </a:pPr>
                      <a:r>
                        <a:rPr lang="en-GB" sz="1400" b="0" kern="100" dirty="0">
                          <a:effectLst/>
                        </a:rPr>
                        <a:t>Air quality</a:t>
                      </a:r>
                    </a:p>
                    <a:p>
                      <a:pPr>
                        <a:lnSpc>
                          <a:spcPct val="115000"/>
                        </a:lnSpc>
                        <a:spcAft>
                          <a:spcPts val="800"/>
                        </a:spcAft>
                        <a:buNone/>
                      </a:pPr>
                      <a:r>
                        <a:rPr lang="en-GB" sz="1400" b="0" kern="100" dirty="0">
                          <a:effectLst/>
                        </a:rPr>
                        <a:t>Proximity to landscape attractive for recreation</a:t>
                      </a:r>
                    </a:p>
                    <a:p>
                      <a:pPr>
                        <a:lnSpc>
                          <a:spcPct val="115000"/>
                        </a:lnSpc>
                        <a:spcAft>
                          <a:spcPts val="800"/>
                        </a:spcAft>
                        <a:buNone/>
                      </a:pPr>
                      <a:r>
                        <a:rPr lang="en-GB" sz="1400" b="0" kern="100" dirty="0">
                          <a:effectLst/>
                        </a:rPr>
                        <a:t>Variety of landscapes</a:t>
                      </a:r>
                      <a:endParaRPr lang="en-GB" sz="1400" b="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Proximity to (through) roads</a:t>
                      </a:r>
                    </a:p>
                    <a:p>
                      <a:pPr>
                        <a:lnSpc>
                          <a:spcPct val="115000"/>
                        </a:lnSpc>
                        <a:spcAft>
                          <a:spcPts val="800"/>
                        </a:spcAft>
                        <a:buNone/>
                      </a:pPr>
                      <a:r>
                        <a:rPr lang="en-GB" sz="1400" kern="100" dirty="0">
                          <a:effectLst/>
                        </a:rPr>
                        <a:t>Proximity to rail infrastructure</a:t>
                      </a:r>
                    </a:p>
                    <a:p>
                      <a:pPr>
                        <a:lnSpc>
                          <a:spcPct val="115000"/>
                        </a:lnSpc>
                        <a:spcAft>
                          <a:spcPts val="800"/>
                        </a:spcAft>
                        <a:buNone/>
                      </a:pPr>
                      <a:r>
                        <a:rPr lang="en-GB" sz="1400" kern="100" dirty="0">
                          <a:effectLst/>
                        </a:rPr>
                        <a:t>Traffic safety</a:t>
                      </a:r>
                    </a:p>
                    <a:p>
                      <a:pPr>
                        <a:lnSpc>
                          <a:spcPct val="115000"/>
                        </a:lnSpc>
                        <a:spcAft>
                          <a:spcPts val="800"/>
                        </a:spcAft>
                        <a:buNone/>
                      </a:pPr>
                      <a:r>
                        <a:rPr lang="en-GB" sz="1400" kern="100" dirty="0">
                          <a:effectLst/>
                        </a:rPr>
                        <a:t>Car density</a:t>
                      </a:r>
                    </a:p>
                    <a:p>
                      <a:pPr>
                        <a:lnSpc>
                          <a:spcPct val="115000"/>
                        </a:lnSpc>
                        <a:spcAft>
                          <a:spcPts val="800"/>
                        </a:spcAft>
                        <a:buNone/>
                      </a:pPr>
                      <a:r>
                        <a:rPr lang="en-GB" sz="1400" kern="100" dirty="0">
                          <a:effectLst/>
                        </a:rPr>
                        <a:t>Proximity to wind turbines</a:t>
                      </a:r>
                    </a:p>
                    <a:p>
                      <a:pPr>
                        <a:lnSpc>
                          <a:spcPct val="115000"/>
                        </a:lnSpc>
                        <a:spcAft>
                          <a:spcPts val="800"/>
                        </a:spcAft>
                        <a:buNone/>
                      </a:pPr>
                      <a:r>
                        <a:rPr lang="en-GB" sz="1400" kern="100" dirty="0">
                          <a:effectLst/>
                        </a:rPr>
                        <a:t>Proximity to high-voltage pylons</a:t>
                      </a:r>
                    </a:p>
                    <a:p>
                      <a:pPr>
                        <a:lnSpc>
                          <a:spcPct val="115000"/>
                        </a:lnSpc>
                        <a:spcAft>
                          <a:spcPts val="800"/>
                        </a:spcAft>
                        <a:buNone/>
                      </a:pPr>
                      <a:r>
                        <a:rPr lang="en-GB" sz="1400" kern="100" dirty="0">
                          <a:effectLst/>
                        </a:rPr>
                        <a:t>Quality of walking and cycling paths</a:t>
                      </a:r>
                    </a:p>
                    <a:p>
                      <a:pPr>
                        <a:lnSpc>
                          <a:spcPct val="115000"/>
                        </a:lnSpc>
                        <a:spcAft>
                          <a:spcPts val="800"/>
                        </a:spcAft>
                        <a:buNone/>
                      </a:pPr>
                      <a:r>
                        <a:rPr lang="en-GB" sz="1400" kern="100" dirty="0">
                          <a:effectLst/>
                        </a:rPr>
                        <a:t>Mixed-use development</a:t>
                      </a:r>
                    </a:p>
                    <a:p>
                      <a:pPr>
                        <a:lnSpc>
                          <a:spcPct val="115000"/>
                        </a:lnSpc>
                        <a:spcAft>
                          <a:spcPts val="800"/>
                        </a:spcAft>
                        <a:buNone/>
                      </a:pPr>
                      <a:r>
                        <a:rPr lang="en-GB" sz="1400" kern="100" dirty="0">
                          <a:effectLst/>
                        </a:rPr>
                        <a:t>Vacancy of non-residential real estate</a:t>
                      </a:r>
                    </a:p>
                    <a:p>
                      <a:pPr>
                        <a:lnSpc>
                          <a:spcPct val="115000"/>
                        </a:lnSpc>
                        <a:spcAft>
                          <a:spcPts val="800"/>
                        </a:spcAft>
                        <a:buNone/>
                      </a:pPr>
                      <a:r>
                        <a:rPr lang="en-GB" sz="1400" kern="100" dirty="0">
                          <a:effectLst/>
                        </a:rPr>
                        <a:t>Walkability</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Housing vacancy</a:t>
                      </a:r>
                    </a:p>
                    <a:p>
                      <a:pPr>
                        <a:lnSpc>
                          <a:spcPct val="115000"/>
                        </a:lnSpc>
                        <a:spcAft>
                          <a:spcPts val="800"/>
                        </a:spcAft>
                        <a:buNone/>
                      </a:pPr>
                      <a:r>
                        <a:rPr lang="en-GB" sz="1400" kern="100" dirty="0">
                          <a:effectLst/>
                        </a:rPr>
                        <a:t>Building density</a:t>
                      </a:r>
                    </a:p>
                    <a:p>
                      <a:pPr>
                        <a:lnSpc>
                          <a:spcPct val="115000"/>
                        </a:lnSpc>
                        <a:spcAft>
                          <a:spcPts val="800"/>
                        </a:spcAft>
                        <a:buNone/>
                      </a:pPr>
                      <a:r>
                        <a:rPr lang="en-GB" sz="1400" kern="100" dirty="0">
                          <a:effectLst/>
                        </a:rPr>
                        <a:t>Foundation problems</a:t>
                      </a:r>
                    </a:p>
                    <a:p>
                      <a:pPr>
                        <a:lnSpc>
                          <a:spcPct val="115000"/>
                        </a:lnSpc>
                        <a:spcAft>
                          <a:spcPts val="800"/>
                        </a:spcAft>
                        <a:buNone/>
                      </a:pPr>
                      <a:r>
                        <a:rPr lang="en-GB" sz="1400" kern="100" dirty="0">
                          <a:effectLst/>
                        </a:rPr>
                        <a:t>Mixing of ownership structures</a:t>
                      </a:r>
                    </a:p>
                    <a:p>
                      <a:pPr>
                        <a:lnSpc>
                          <a:spcPct val="115000"/>
                        </a:lnSpc>
                        <a:spcAft>
                          <a:spcPts val="800"/>
                        </a:spcAft>
                        <a:buNone/>
                      </a:pPr>
                      <a:r>
                        <a:rPr lang="en-GB" sz="1400" kern="100" dirty="0">
                          <a:effectLst/>
                        </a:rPr>
                        <a:t>Energy quality</a:t>
                      </a:r>
                    </a:p>
                    <a:p>
                      <a:pPr>
                        <a:lnSpc>
                          <a:spcPct val="115000"/>
                        </a:lnSpc>
                        <a:spcAft>
                          <a:spcPts val="800"/>
                        </a:spcAft>
                        <a:buNone/>
                      </a:pPr>
                      <a:r>
                        <a:rPr lang="en-GB" sz="1400" kern="100" dirty="0">
                          <a:effectLst/>
                        </a:rPr>
                        <a:t>Home ownership</a:t>
                      </a:r>
                    </a:p>
                    <a:p>
                      <a:pPr>
                        <a:lnSpc>
                          <a:spcPct val="115000"/>
                        </a:lnSpc>
                        <a:spcAft>
                          <a:spcPts val="800"/>
                        </a:spcAft>
                        <a:buNone/>
                      </a:pPr>
                      <a:r>
                        <a:rPr lang="en-GB" sz="1400" kern="100" dirty="0">
                          <a:effectLst/>
                        </a:rPr>
                        <a:t>Specific poorly maintained segments</a:t>
                      </a:r>
                    </a:p>
                    <a:p>
                      <a:pPr>
                        <a:lnSpc>
                          <a:spcPct val="115000"/>
                        </a:lnSpc>
                        <a:spcAft>
                          <a:spcPts val="800"/>
                        </a:spcAft>
                        <a:buNone/>
                      </a:pPr>
                      <a:r>
                        <a:rPr lang="en-GB" sz="1400" kern="100" dirty="0">
                          <a:effectLst/>
                        </a:rPr>
                        <a:t>Home ownership in relation to insufficient income</a:t>
                      </a:r>
                    </a:p>
                    <a:p>
                      <a:pPr>
                        <a:lnSpc>
                          <a:spcPct val="115000"/>
                        </a:lnSpc>
                        <a:spcAft>
                          <a:spcPts val="800"/>
                        </a:spcAft>
                        <a:buNone/>
                      </a:pPr>
                      <a:r>
                        <a:rPr lang="en-GB" sz="1400" kern="100" dirty="0">
                          <a:effectLst/>
                        </a:rPr>
                        <a:t>Use of solar panels</a:t>
                      </a:r>
                    </a:p>
                    <a:p>
                      <a:pPr>
                        <a:lnSpc>
                          <a:spcPct val="115000"/>
                        </a:lnSpc>
                        <a:spcAft>
                          <a:spcPts val="800"/>
                        </a:spcAft>
                        <a:buNone/>
                      </a:pPr>
                      <a:r>
                        <a:rPr lang="en-GB" sz="1400" kern="100" dirty="0">
                          <a:effectLst/>
                        </a:rPr>
                        <a:t>Share of listed buildings</a:t>
                      </a:r>
                    </a:p>
                    <a:p>
                      <a:pPr>
                        <a:lnSpc>
                          <a:spcPct val="115000"/>
                        </a:lnSpc>
                        <a:spcAft>
                          <a:spcPts val="800"/>
                        </a:spcAft>
                        <a:buNone/>
                      </a:pPr>
                      <a:r>
                        <a:rPr lang="en-GB" sz="1400" kern="100" dirty="0">
                          <a:effectLst/>
                        </a:rPr>
                        <a:t>Renovations of homes Overcrowding</a:t>
                      </a:r>
                    </a:p>
                    <a:p>
                      <a:pPr>
                        <a:lnSpc>
                          <a:spcPct val="115000"/>
                        </a:lnSpc>
                        <a:spcAft>
                          <a:spcPts val="800"/>
                        </a:spcAft>
                        <a:buNone/>
                      </a:pPr>
                      <a:r>
                        <a:rPr lang="en-GB" sz="1400" kern="100" dirty="0">
                          <a:effectLst/>
                        </a:rPr>
                        <a:t>Housing types</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(Public) transport</a:t>
                      </a:r>
                    </a:p>
                    <a:p>
                      <a:pPr>
                        <a:lnSpc>
                          <a:spcPct val="115000"/>
                        </a:lnSpc>
                        <a:spcAft>
                          <a:spcPts val="800"/>
                        </a:spcAft>
                        <a:buNone/>
                      </a:pPr>
                      <a:r>
                        <a:rPr lang="en-GB" sz="1400" kern="100" dirty="0">
                          <a:effectLst/>
                        </a:rPr>
                        <a:t>Shops/retail</a:t>
                      </a:r>
                    </a:p>
                    <a:p>
                      <a:pPr>
                        <a:lnSpc>
                          <a:spcPct val="115000"/>
                        </a:lnSpc>
                        <a:spcAft>
                          <a:spcPts val="800"/>
                        </a:spcAft>
                        <a:buNone/>
                      </a:pPr>
                      <a:r>
                        <a:rPr lang="en-GB" sz="1400" kern="100" dirty="0">
                          <a:effectLst/>
                        </a:rPr>
                        <a:t>Education</a:t>
                      </a:r>
                    </a:p>
                    <a:p>
                      <a:pPr>
                        <a:lnSpc>
                          <a:spcPct val="115000"/>
                        </a:lnSpc>
                        <a:spcAft>
                          <a:spcPts val="800"/>
                        </a:spcAft>
                        <a:buNone/>
                      </a:pPr>
                      <a:r>
                        <a:rPr lang="en-GB" sz="1400" kern="100" dirty="0">
                          <a:effectLst/>
                        </a:rPr>
                        <a:t>Care and support</a:t>
                      </a:r>
                    </a:p>
                    <a:p>
                      <a:pPr>
                        <a:lnSpc>
                          <a:spcPct val="115000"/>
                        </a:lnSpc>
                        <a:spcAft>
                          <a:spcPts val="800"/>
                        </a:spcAft>
                        <a:buNone/>
                      </a:pPr>
                      <a:r>
                        <a:rPr lang="en-GB" sz="1400" kern="100" dirty="0">
                          <a:effectLst/>
                        </a:rPr>
                        <a:t>Hospitality/social gatherings</a:t>
                      </a:r>
                    </a:p>
                    <a:p>
                      <a:pPr>
                        <a:lnSpc>
                          <a:spcPct val="115000"/>
                        </a:lnSpc>
                        <a:spcAft>
                          <a:spcPts val="800"/>
                        </a:spcAft>
                        <a:buNone/>
                      </a:pPr>
                      <a:r>
                        <a:rPr lang="en-GB" sz="1400" kern="100" dirty="0">
                          <a:effectLst/>
                        </a:rPr>
                        <a:t>Leisure, culture, etc.</a:t>
                      </a:r>
                    </a:p>
                    <a:p>
                      <a:pPr>
                        <a:lnSpc>
                          <a:spcPct val="115000"/>
                        </a:lnSpc>
                        <a:spcAft>
                          <a:spcPts val="800"/>
                        </a:spcAft>
                        <a:buNone/>
                      </a:pPr>
                      <a:r>
                        <a:rPr lang="en-GB" sz="1400" kern="100" dirty="0">
                          <a:effectLst/>
                        </a:rPr>
                        <a:t>Sports facilities</a:t>
                      </a:r>
                    </a:p>
                    <a:p>
                      <a:pPr>
                        <a:lnSpc>
                          <a:spcPct val="115000"/>
                        </a:lnSpc>
                        <a:spcAft>
                          <a:spcPts val="800"/>
                        </a:spcAft>
                        <a:buNone/>
                      </a:pPr>
                      <a:r>
                        <a:rPr lang="en-GB" sz="1400" kern="100" dirty="0">
                          <a:effectLst/>
                        </a:rPr>
                        <a:t>Track accessibility</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(Diversity by) life stage</a:t>
                      </a:r>
                    </a:p>
                    <a:p>
                      <a:pPr>
                        <a:lnSpc>
                          <a:spcPct val="115000"/>
                        </a:lnSpc>
                        <a:spcAft>
                          <a:spcPts val="800"/>
                        </a:spcAft>
                        <a:buNone/>
                      </a:pPr>
                      <a:r>
                        <a:rPr lang="en-GB" sz="1400" kern="100" dirty="0">
                          <a:effectLst/>
                        </a:rPr>
                        <a:t>Social cohesion</a:t>
                      </a:r>
                    </a:p>
                    <a:p>
                      <a:pPr>
                        <a:lnSpc>
                          <a:spcPct val="115000"/>
                        </a:lnSpc>
                        <a:spcAft>
                          <a:spcPts val="800"/>
                        </a:spcAft>
                        <a:buNone/>
                      </a:pPr>
                      <a:r>
                        <a:rPr lang="en-GB" sz="1400" kern="100" dirty="0">
                          <a:effectLst/>
                        </a:rPr>
                        <a:t>Tuition rate</a:t>
                      </a:r>
                    </a:p>
                    <a:p>
                      <a:pPr>
                        <a:lnSpc>
                          <a:spcPct val="115000"/>
                        </a:lnSpc>
                        <a:spcAft>
                          <a:spcPts val="800"/>
                        </a:spcAft>
                        <a:buNone/>
                      </a:pPr>
                      <a:r>
                        <a:rPr lang="en-GB" sz="1400" kern="100" dirty="0">
                          <a:effectLst/>
                        </a:rPr>
                        <a:t>Population density</a:t>
                      </a:r>
                    </a:p>
                    <a:p>
                      <a:pPr>
                        <a:lnSpc>
                          <a:spcPct val="115000"/>
                        </a:lnSpc>
                        <a:spcAft>
                          <a:spcPts val="800"/>
                        </a:spcAft>
                        <a:buNone/>
                      </a:pPr>
                      <a:r>
                        <a:rPr lang="en-GB" sz="1400" kern="100" dirty="0">
                          <a:effectLst/>
                        </a:rPr>
                        <a:t>Population development</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Registered crimes</a:t>
                      </a:r>
                    </a:p>
                    <a:p>
                      <a:pPr>
                        <a:lnSpc>
                          <a:spcPct val="115000"/>
                        </a:lnSpc>
                        <a:spcAft>
                          <a:spcPts val="800"/>
                        </a:spcAft>
                        <a:buNone/>
                      </a:pPr>
                      <a:r>
                        <a:rPr lang="en-GB" sz="1400" kern="100" dirty="0">
                          <a:effectLst/>
                        </a:rPr>
                        <a:t>Perceived safety</a:t>
                      </a:r>
                    </a:p>
                    <a:p>
                      <a:pPr>
                        <a:lnSpc>
                          <a:spcPct val="115000"/>
                        </a:lnSpc>
                        <a:spcAft>
                          <a:spcPts val="800"/>
                        </a:spcAft>
                        <a:buNone/>
                      </a:pPr>
                      <a:r>
                        <a:rPr lang="en-GB" sz="1400" kern="100" dirty="0">
                          <a:effectLst/>
                        </a:rPr>
                        <a:t>Perceived nuisance</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118945"/>
                  </a:ext>
                </a:extLst>
              </a:tr>
            </a:tbl>
          </a:graphicData>
        </a:graphic>
      </p:graphicFrame>
    </p:spTree>
    <p:extLst>
      <p:ext uri="{BB962C8B-B14F-4D97-AF65-F5344CB8AC3E}">
        <p14:creationId xmlns:p14="http://schemas.microsoft.com/office/powerpoint/2010/main" val="40324507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7DB29-D704-7649-E63C-610D8F7CEBAF}"/>
              </a:ext>
            </a:extLst>
          </p:cNvPr>
          <p:cNvSpPr>
            <a:spLocks noGrp="1"/>
          </p:cNvSpPr>
          <p:nvPr>
            <p:ph type="title"/>
          </p:nvPr>
        </p:nvSpPr>
        <p:spPr/>
        <p:txBody>
          <a:bodyPr>
            <a:normAutofit/>
          </a:bodyPr>
          <a:lstStyle/>
          <a:p>
            <a:r>
              <a:rPr lang="en-US" sz="4000" b="1" dirty="0">
                <a:latin typeface="Aptos" panose="020B0004020202020204" pitchFamily="34" charset="0"/>
              </a:rPr>
              <a:t>DATA</a:t>
            </a:r>
            <a:endParaRPr lang="en-NL" sz="4000" dirty="0"/>
          </a:p>
        </p:txBody>
      </p:sp>
      <p:pic>
        <p:nvPicPr>
          <p:cNvPr id="1026" name="Picture 2" descr="Survey Data Netherlands - About">
            <a:extLst>
              <a:ext uri="{FF2B5EF4-FFF2-40B4-BE49-F238E27FC236}">
                <a16:creationId xmlns:a16="http://schemas.microsoft.com/office/drawing/2014/main" id="{912863B4-A454-920F-55D4-E828CD9836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0528" y="1484149"/>
            <a:ext cx="1958068" cy="195806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B0B51224-3C30-98CB-EE9A-B726F75CA57A}"/>
              </a:ext>
            </a:extLst>
          </p:cNvPr>
          <p:cNvPicPr>
            <a:picLocks noChangeAspect="1"/>
          </p:cNvPicPr>
          <p:nvPr/>
        </p:nvPicPr>
        <p:blipFill>
          <a:blip r:embed="rId4"/>
          <a:srcRect l="303" t="19448" r="72747" b="64625"/>
          <a:stretch>
            <a:fillRect/>
          </a:stretch>
        </p:blipFill>
        <p:spPr>
          <a:xfrm>
            <a:off x="2747376" y="1588755"/>
            <a:ext cx="4944730" cy="1643743"/>
          </a:xfrm>
          <a:prstGeom prst="rect">
            <a:avLst/>
          </a:prstGeom>
        </p:spPr>
      </p:pic>
      <p:pic>
        <p:nvPicPr>
          <p:cNvPr id="14" name="Picture 13">
            <a:extLst>
              <a:ext uri="{FF2B5EF4-FFF2-40B4-BE49-F238E27FC236}">
                <a16:creationId xmlns:a16="http://schemas.microsoft.com/office/drawing/2014/main" id="{2E34B0D6-8877-B408-5E8A-A26D9BD3BCDE}"/>
              </a:ext>
            </a:extLst>
          </p:cNvPr>
          <p:cNvPicPr>
            <a:picLocks noChangeAspect="1"/>
          </p:cNvPicPr>
          <p:nvPr/>
        </p:nvPicPr>
        <p:blipFill>
          <a:blip r:embed="rId5"/>
          <a:srcRect l="1840" t="17143" r="75267" b="73175"/>
          <a:stretch>
            <a:fillRect/>
          </a:stretch>
        </p:blipFill>
        <p:spPr>
          <a:xfrm>
            <a:off x="7970761" y="1926339"/>
            <a:ext cx="4071113" cy="968573"/>
          </a:xfrm>
          <a:prstGeom prst="rect">
            <a:avLst/>
          </a:prstGeom>
        </p:spPr>
      </p:pic>
      <p:pic>
        <p:nvPicPr>
          <p:cNvPr id="1038" name="Picture 14" descr="aivd_nl">
            <a:extLst>
              <a:ext uri="{FF2B5EF4-FFF2-40B4-BE49-F238E27FC236}">
                <a16:creationId xmlns:a16="http://schemas.microsoft.com/office/drawing/2014/main" id="{2838B81E-7193-7651-E69A-11326F6CDF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631606" y="5297606"/>
            <a:ext cx="1560394" cy="156039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012E5C2-2847-5AAE-C234-F89179B91853}"/>
              </a:ext>
            </a:extLst>
          </p:cNvPr>
          <p:cNvSpPr txBox="1"/>
          <p:nvPr/>
        </p:nvSpPr>
        <p:spPr>
          <a:xfrm>
            <a:off x="218357" y="3603009"/>
            <a:ext cx="2770503" cy="2308324"/>
          </a:xfrm>
          <a:prstGeom prst="rect">
            <a:avLst/>
          </a:prstGeom>
          <a:noFill/>
        </p:spPr>
        <p:txBody>
          <a:bodyPr wrap="square" rtlCol="0">
            <a:spAutoFit/>
          </a:bodyPr>
          <a:lstStyle/>
          <a:p>
            <a:pPr marL="285750" indent="-285750">
              <a:buFontTx/>
              <a:buChar char="-"/>
            </a:pPr>
            <a:r>
              <a:rPr lang="en-GB" dirty="0"/>
              <a:t>Wave 18 (2025)</a:t>
            </a:r>
          </a:p>
          <a:p>
            <a:pPr marL="285750" indent="-285750">
              <a:buFontTx/>
              <a:buChar char="-"/>
            </a:pPr>
            <a:r>
              <a:rPr lang="en-GB" dirty="0"/>
              <a:t>Core studies:</a:t>
            </a:r>
            <a:br>
              <a:rPr lang="en-GB" dirty="0"/>
            </a:br>
            <a:r>
              <a:rPr lang="en-GB" dirty="0"/>
              <a:t>Social Integration &amp; Leisure</a:t>
            </a:r>
          </a:p>
          <a:p>
            <a:pPr marL="285750" indent="-285750">
              <a:buFontTx/>
              <a:buChar char="-"/>
            </a:pPr>
            <a:r>
              <a:rPr lang="en-GB" dirty="0"/>
              <a:t>Work &amp; School</a:t>
            </a:r>
          </a:p>
          <a:p>
            <a:pPr marL="285750" indent="-285750">
              <a:buFontTx/>
              <a:buChar char="-"/>
            </a:pPr>
            <a:r>
              <a:rPr lang="en-GB" dirty="0"/>
              <a:t>Health</a:t>
            </a:r>
          </a:p>
          <a:p>
            <a:pPr marL="285750" indent="-285750">
              <a:buFontTx/>
              <a:buChar char="-"/>
            </a:pPr>
            <a:r>
              <a:rPr lang="en-GB" dirty="0"/>
              <a:t>Housing</a:t>
            </a:r>
          </a:p>
          <a:p>
            <a:pPr marL="285750" indent="-285750">
              <a:buFontTx/>
              <a:buChar char="-"/>
            </a:pPr>
            <a:endParaRPr lang="en-US" dirty="0"/>
          </a:p>
        </p:txBody>
      </p:sp>
      <p:sp>
        <p:nvSpPr>
          <p:cNvPr id="4" name="TextBox 3">
            <a:extLst>
              <a:ext uri="{FF2B5EF4-FFF2-40B4-BE49-F238E27FC236}">
                <a16:creationId xmlns:a16="http://schemas.microsoft.com/office/drawing/2014/main" id="{6111C955-0398-A29D-1574-D126904912CB}"/>
              </a:ext>
            </a:extLst>
          </p:cNvPr>
          <p:cNvSpPr txBox="1"/>
          <p:nvPr/>
        </p:nvSpPr>
        <p:spPr>
          <a:xfrm>
            <a:off x="3903260" y="3603009"/>
            <a:ext cx="3234519" cy="1477328"/>
          </a:xfrm>
          <a:prstGeom prst="rect">
            <a:avLst/>
          </a:prstGeom>
          <a:noFill/>
        </p:spPr>
        <p:txBody>
          <a:bodyPr wrap="square" rtlCol="0">
            <a:spAutoFit/>
          </a:bodyPr>
          <a:lstStyle/>
          <a:p>
            <a:pPr marL="285750" indent="-285750">
              <a:buFontTx/>
              <a:buChar char="-"/>
            </a:pPr>
            <a:r>
              <a:rPr lang="en-US" dirty="0"/>
              <a:t>Air pollution 2023</a:t>
            </a:r>
          </a:p>
          <a:p>
            <a:pPr marL="285750" indent="-285750">
              <a:buFontTx/>
              <a:buChar char="-"/>
            </a:pPr>
            <a:r>
              <a:rPr lang="en-US" dirty="0"/>
              <a:t>Light exposure and walkability from 2020</a:t>
            </a:r>
          </a:p>
          <a:p>
            <a:pPr marL="285750" indent="-285750">
              <a:buFontTx/>
              <a:buChar char="-"/>
            </a:pPr>
            <a:r>
              <a:rPr lang="en-US" dirty="0"/>
              <a:t>Food environment</a:t>
            </a:r>
          </a:p>
          <a:p>
            <a:pPr marL="285750" indent="-285750">
              <a:buFontTx/>
              <a:buChar char="-"/>
            </a:pPr>
            <a:r>
              <a:rPr lang="en-US" dirty="0"/>
              <a:t>Urbanist city 2015</a:t>
            </a:r>
          </a:p>
        </p:txBody>
      </p:sp>
      <p:sp>
        <p:nvSpPr>
          <p:cNvPr id="5" name="TextBox 4">
            <a:extLst>
              <a:ext uri="{FF2B5EF4-FFF2-40B4-BE49-F238E27FC236}">
                <a16:creationId xmlns:a16="http://schemas.microsoft.com/office/drawing/2014/main" id="{9C016400-E22F-33A2-C7CE-BE99CD85344B}"/>
              </a:ext>
            </a:extLst>
          </p:cNvPr>
          <p:cNvSpPr txBox="1"/>
          <p:nvPr/>
        </p:nvSpPr>
        <p:spPr>
          <a:xfrm>
            <a:off x="7970761" y="3603009"/>
            <a:ext cx="2770027" cy="369332"/>
          </a:xfrm>
          <a:prstGeom prst="rect">
            <a:avLst/>
          </a:prstGeom>
          <a:noFill/>
        </p:spPr>
        <p:txBody>
          <a:bodyPr wrap="square" rtlCol="0">
            <a:spAutoFit/>
          </a:bodyPr>
          <a:lstStyle/>
          <a:p>
            <a:r>
              <a:rPr lang="en-US" dirty="0" err="1"/>
              <a:t>Firmbackbone</a:t>
            </a:r>
            <a:endParaRPr lang="en-US" dirty="0"/>
          </a:p>
        </p:txBody>
      </p:sp>
    </p:spTree>
    <p:extLst>
      <p:ext uri="{BB962C8B-B14F-4D97-AF65-F5344CB8AC3E}">
        <p14:creationId xmlns:p14="http://schemas.microsoft.com/office/powerpoint/2010/main" val="302896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0AF0E-ED51-D6C7-ED17-990E85214ED5}"/>
              </a:ext>
            </a:extLst>
          </p:cNvPr>
          <p:cNvSpPr>
            <a:spLocks noGrp="1"/>
          </p:cNvSpPr>
          <p:nvPr>
            <p:ph type="title"/>
          </p:nvPr>
        </p:nvSpPr>
        <p:spPr/>
        <p:txBody>
          <a:bodyPr>
            <a:normAutofit/>
          </a:bodyPr>
          <a:lstStyle/>
          <a:p>
            <a:r>
              <a:rPr lang="en-US" sz="4000" b="1" dirty="0">
                <a:latin typeface="Aptos" panose="020B0004020202020204" pitchFamily="34" charset="0"/>
              </a:rPr>
              <a:t>METHODOLOGY</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EE745100-CE06-4549-0F6E-0CC8267F6DBC}"/>
              </a:ext>
            </a:extLst>
          </p:cNvPr>
          <p:cNvSpPr>
            <a:spLocks noGrp="1"/>
          </p:cNvSpPr>
          <p:nvPr>
            <p:ph idx="1"/>
          </p:nvPr>
        </p:nvSpPr>
        <p:spPr/>
        <p:txBody>
          <a:bodyPr/>
          <a:lstStyle/>
          <a:p>
            <a:r>
              <a:rPr lang="en-US" dirty="0"/>
              <a:t>METHOD AND APPROACH</a:t>
            </a:r>
            <a:endParaRPr lang="ru-RU" dirty="0"/>
          </a:p>
        </p:txBody>
      </p:sp>
    </p:spTree>
    <p:extLst>
      <p:ext uri="{BB962C8B-B14F-4D97-AF65-F5344CB8AC3E}">
        <p14:creationId xmlns:p14="http://schemas.microsoft.com/office/powerpoint/2010/main" val="12004459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F7281-6E80-CFFF-874F-9F76B107E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90C301-DB0A-A0D8-AE4C-36C9A1FC7AF6}"/>
              </a:ext>
            </a:extLst>
          </p:cNvPr>
          <p:cNvSpPr>
            <a:spLocks noGrp="1"/>
          </p:cNvSpPr>
          <p:nvPr>
            <p:ph type="title"/>
          </p:nvPr>
        </p:nvSpPr>
        <p:spPr/>
        <p:txBody>
          <a:bodyPr>
            <a:normAutofit/>
          </a:bodyPr>
          <a:lstStyle/>
          <a:p>
            <a:r>
              <a:rPr lang="en-US" sz="4000" b="1" dirty="0">
                <a:latin typeface="Aptos" panose="020B0004020202020204" pitchFamily="34" charset="0"/>
              </a:rPr>
              <a:t>METHODOLOGY</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B9B86305-CFE3-D282-69B1-87E1AFA6AE0D}"/>
              </a:ext>
            </a:extLst>
          </p:cNvPr>
          <p:cNvSpPr>
            <a:spLocks noGrp="1"/>
          </p:cNvSpPr>
          <p:nvPr>
            <p:ph idx="1"/>
          </p:nvPr>
        </p:nvSpPr>
        <p:spPr/>
        <p:txBody>
          <a:bodyPr/>
          <a:lstStyle/>
          <a:p>
            <a:r>
              <a:rPr lang="en-US" dirty="0"/>
              <a:t>METHOD AND APPROACH</a:t>
            </a:r>
            <a:endParaRPr lang="ru-RU" dirty="0"/>
          </a:p>
        </p:txBody>
      </p:sp>
    </p:spTree>
    <p:extLst>
      <p:ext uri="{BB962C8B-B14F-4D97-AF65-F5344CB8AC3E}">
        <p14:creationId xmlns:p14="http://schemas.microsoft.com/office/powerpoint/2010/main" val="37781315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7DF4A-6793-0A82-6A54-8C85064ED0FD}"/>
              </a:ext>
            </a:extLst>
          </p:cNvPr>
          <p:cNvSpPr>
            <a:spLocks noGrp="1"/>
          </p:cNvSpPr>
          <p:nvPr>
            <p:ph type="title"/>
          </p:nvPr>
        </p:nvSpPr>
        <p:spPr/>
        <p:txBody>
          <a:bodyPr>
            <a:normAutofit/>
          </a:bodyPr>
          <a:lstStyle/>
          <a:p>
            <a:r>
              <a:rPr lang="en-US" sz="4000" b="1" dirty="0">
                <a:latin typeface="Aptos" panose="020B0004020202020204" pitchFamily="34" charset="0"/>
              </a:rPr>
              <a:t>RESULTS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B7AC6F1B-C3BD-3A07-79D7-89F1A5E47B98}"/>
              </a:ext>
            </a:extLst>
          </p:cNvPr>
          <p:cNvSpPr>
            <a:spLocks noGrp="1"/>
          </p:cNvSpPr>
          <p:nvPr>
            <p:ph idx="1"/>
          </p:nvPr>
        </p:nvSpPr>
        <p:spPr/>
        <p:txBody>
          <a:bodyPr/>
          <a:lstStyle/>
          <a:p>
            <a:r>
              <a:rPr lang="en-US" dirty="0"/>
              <a:t>OVERVIEW OF RESULTS</a:t>
            </a:r>
          </a:p>
          <a:p>
            <a:r>
              <a:rPr lang="en-US" dirty="0"/>
              <a:t>VISUALIZATIONS</a:t>
            </a:r>
          </a:p>
          <a:p>
            <a:r>
              <a:rPr lang="en-US" dirty="0"/>
              <a:t>REMARKS</a:t>
            </a:r>
            <a:endParaRPr lang="en-NL" dirty="0"/>
          </a:p>
        </p:txBody>
      </p:sp>
    </p:spTree>
    <p:extLst>
      <p:ext uri="{BB962C8B-B14F-4D97-AF65-F5344CB8AC3E}">
        <p14:creationId xmlns:p14="http://schemas.microsoft.com/office/powerpoint/2010/main" val="28230572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B0EC5-B0F0-FCC9-17F0-3AB7C1532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9A363-D7DB-6BE4-0009-CC686FBA65FF}"/>
              </a:ext>
            </a:extLst>
          </p:cNvPr>
          <p:cNvSpPr>
            <a:spLocks noGrp="1"/>
          </p:cNvSpPr>
          <p:nvPr>
            <p:ph type="title"/>
          </p:nvPr>
        </p:nvSpPr>
        <p:spPr/>
        <p:txBody>
          <a:bodyPr>
            <a:normAutofit/>
          </a:bodyPr>
          <a:lstStyle/>
          <a:p>
            <a:r>
              <a:rPr lang="en-US" sz="4000" b="1" dirty="0">
                <a:latin typeface="Aptos" panose="020B0004020202020204" pitchFamily="34" charset="0"/>
              </a:rPr>
              <a:t>DISCUSSION: Findings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B391B391-3948-A474-3013-11139B938FBF}"/>
              </a:ext>
            </a:extLst>
          </p:cNvPr>
          <p:cNvSpPr>
            <a:spLocks noGrp="1"/>
          </p:cNvSpPr>
          <p:nvPr>
            <p:ph idx="1"/>
          </p:nvPr>
        </p:nvSpPr>
        <p:spPr/>
        <p:txBody>
          <a:bodyPr/>
          <a:lstStyle/>
          <a:p>
            <a:endParaRPr lang="en-US" dirty="0"/>
          </a:p>
          <a:p>
            <a:endParaRPr lang="en-NL" dirty="0"/>
          </a:p>
        </p:txBody>
      </p:sp>
      <p:sp>
        <p:nvSpPr>
          <p:cNvPr id="4" name="TextBox 3">
            <a:extLst>
              <a:ext uri="{FF2B5EF4-FFF2-40B4-BE49-F238E27FC236}">
                <a16:creationId xmlns:a16="http://schemas.microsoft.com/office/drawing/2014/main" id="{767C297B-838B-CB80-2B03-A226C293C573}"/>
              </a:ext>
            </a:extLst>
          </p:cNvPr>
          <p:cNvSpPr txBox="1"/>
          <p:nvPr/>
        </p:nvSpPr>
        <p:spPr>
          <a:xfrm>
            <a:off x="838200" y="1825625"/>
            <a:ext cx="10089995" cy="1477328"/>
          </a:xfrm>
          <a:prstGeom prst="rect">
            <a:avLst/>
          </a:prstGeom>
          <a:noFill/>
        </p:spPr>
        <p:txBody>
          <a:bodyPr wrap="square" rtlCol="0">
            <a:spAutoFit/>
          </a:bodyPr>
          <a:lstStyle/>
          <a:p>
            <a:r>
              <a:rPr lang="en-US" dirty="0"/>
              <a:t>Both objective and subjective measures predict similar livability scores</a:t>
            </a:r>
          </a:p>
          <a:p>
            <a:endParaRPr lang="en-US" dirty="0"/>
          </a:p>
          <a:p>
            <a:r>
              <a:rPr lang="en-US" dirty="0"/>
              <a:t>Good design of the government model</a:t>
            </a:r>
          </a:p>
          <a:p>
            <a:endParaRPr lang="en-US" dirty="0"/>
          </a:p>
          <a:p>
            <a:r>
              <a:rPr lang="en-US" dirty="0"/>
              <a:t>Replicable</a:t>
            </a:r>
          </a:p>
        </p:txBody>
      </p:sp>
    </p:spTree>
    <p:extLst>
      <p:ext uri="{BB962C8B-B14F-4D97-AF65-F5344CB8AC3E}">
        <p14:creationId xmlns:p14="http://schemas.microsoft.com/office/powerpoint/2010/main" val="21012142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FDBAE-1EFF-E4E1-2009-6131436A87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FE8AF-6600-55A1-C616-6283C73A98A5}"/>
              </a:ext>
            </a:extLst>
          </p:cNvPr>
          <p:cNvSpPr>
            <a:spLocks noGrp="1"/>
          </p:cNvSpPr>
          <p:nvPr>
            <p:ph type="title"/>
          </p:nvPr>
        </p:nvSpPr>
        <p:spPr/>
        <p:txBody>
          <a:bodyPr>
            <a:normAutofit/>
          </a:bodyPr>
          <a:lstStyle/>
          <a:p>
            <a:r>
              <a:rPr lang="en-US" sz="4000" b="1" dirty="0">
                <a:latin typeface="Aptos" panose="020B0004020202020204" pitchFamily="34" charset="0"/>
              </a:rPr>
              <a:t>DISCUSSION: Limitations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21490BC7-1771-452A-8BD5-AFEAB98D7F87}"/>
              </a:ext>
            </a:extLst>
          </p:cNvPr>
          <p:cNvSpPr>
            <a:spLocks noGrp="1"/>
          </p:cNvSpPr>
          <p:nvPr>
            <p:ph idx="1"/>
          </p:nvPr>
        </p:nvSpPr>
        <p:spPr/>
        <p:txBody>
          <a:bodyPr>
            <a:normAutofit/>
          </a:bodyPr>
          <a:lstStyle/>
          <a:p>
            <a:r>
              <a:rPr lang="en-GB" dirty="0"/>
              <a:t>Limited to available variables and years in admin data (LISS, Exposome)</a:t>
            </a:r>
          </a:p>
          <a:p>
            <a:r>
              <a:rPr lang="en-GB" dirty="0"/>
              <a:t>Smaller sample size in LISS, especially when aggregating per PS4 (often less than 10 people per neighbourhood)</a:t>
            </a:r>
          </a:p>
          <a:p>
            <a:r>
              <a:rPr lang="en-GB" dirty="0"/>
              <a:t>Approximating measures for livability dimensions based on our own interpretation due to lack of metadata documentation for livability score</a:t>
            </a:r>
          </a:p>
          <a:p>
            <a:endParaRPr lang="en-US" dirty="0"/>
          </a:p>
          <a:p>
            <a:pPr marL="0" indent="0">
              <a:buNone/>
            </a:pPr>
            <a:r>
              <a:rPr lang="en-US" dirty="0">
                <a:sym typeface="Wingdings" pitchFamily="2" charset="2"/>
              </a:rPr>
              <a:t> </a:t>
            </a:r>
            <a:endParaRPr lang="en-US" dirty="0"/>
          </a:p>
          <a:p>
            <a:endParaRPr lang="en-NL" dirty="0"/>
          </a:p>
        </p:txBody>
      </p:sp>
    </p:spTree>
    <p:extLst>
      <p:ext uri="{BB962C8B-B14F-4D97-AF65-F5344CB8AC3E}">
        <p14:creationId xmlns:p14="http://schemas.microsoft.com/office/powerpoint/2010/main" val="23052666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CB3A-E61B-8EF9-D00B-3E6E949FE9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8DD16D-56EC-3AB6-50B7-F29D312ACDAE}"/>
              </a:ext>
            </a:extLst>
          </p:cNvPr>
          <p:cNvSpPr>
            <a:spLocks noGrp="1"/>
          </p:cNvSpPr>
          <p:nvPr>
            <p:ph type="title"/>
          </p:nvPr>
        </p:nvSpPr>
        <p:spPr/>
        <p:txBody>
          <a:bodyPr>
            <a:normAutofit/>
          </a:bodyPr>
          <a:lstStyle/>
          <a:p>
            <a:r>
              <a:rPr lang="en-US" sz="4000" b="1" dirty="0">
                <a:latin typeface="Aptos" panose="020B0004020202020204" pitchFamily="34" charset="0"/>
              </a:rPr>
              <a:t>DISCUSSION: Future work</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7549A113-3E64-19D2-7CA4-DFC57AC685DC}"/>
              </a:ext>
            </a:extLst>
          </p:cNvPr>
          <p:cNvSpPr>
            <a:spLocks noGrp="1"/>
          </p:cNvSpPr>
          <p:nvPr>
            <p:ph idx="1"/>
          </p:nvPr>
        </p:nvSpPr>
        <p:spPr/>
        <p:txBody>
          <a:bodyPr/>
          <a:lstStyle/>
          <a:p>
            <a:pPr marL="0" indent="0">
              <a:buNone/>
            </a:pPr>
            <a:endParaRPr lang="en-US" dirty="0"/>
          </a:p>
        </p:txBody>
      </p:sp>
    </p:spTree>
    <p:extLst>
      <p:ext uri="{BB962C8B-B14F-4D97-AF65-F5344CB8AC3E}">
        <p14:creationId xmlns:p14="http://schemas.microsoft.com/office/powerpoint/2010/main" val="27948406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2979D-1B86-872C-B3B6-2B0DE0828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D49B8E-B669-C240-9DF4-C120563F1C95}"/>
              </a:ext>
            </a:extLst>
          </p:cNvPr>
          <p:cNvSpPr>
            <a:spLocks noGrp="1"/>
          </p:cNvSpPr>
          <p:nvPr>
            <p:ph type="title"/>
          </p:nvPr>
        </p:nvSpPr>
        <p:spPr/>
        <p:txBody>
          <a:bodyPr>
            <a:normAutofit/>
          </a:bodyPr>
          <a:lstStyle/>
          <a:p>
            <a:r>
              <a:rPr lang="en-US" sz="4000" b="1" dirty="0">
                <a:latin typeface="Aptos" panose="020B0004020202020204" pitchFamily="34" charset="0"/>
              </a:rPr>
              <a:t>Reproducibility</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E97BF907-139D-7639-878B-25C477E821A0}"/>
              </a:ext>
            </a:extLst>
          </p:cNvPr>
          <p:cNvSpPr>
            <a:spLocks noGrp="1"/>
          </p:cNvSpPr>
          <p:nvPr>
            <p:ph idx="1"/>
          </p:nvPr>
        </p:nvSpPr>
        <p:spPr/>
        <p:txBody>
          <a:bodyPr/>
          <a:lstStyle/>
          <a:p>
            <a:pPr marL="0" indent="0">
              <a:buNone/>
            </a:pPr>
            <a:r>
              <a:rPr lang="en-US" dirty="0"/>
              <a:t>Measures taken for reproducibility: </a:t>
            </a:r>
          </a:p>
          <a:p>
            <a:pPr>
              <a:buFontTx/>
              <a:buChar char="-"/>
            </a:pPr>
            <a:r>
              <a:rPr lang="en-US" dirty="0"/>
              <a:t>Detailed comments in the scripts;</a:t>
            </a:r>
          </a:p>
          <a:p>
            <a:pPr>
              <a:buFontTx/>
              <a:buChar char="-"/>
            </a:pPr>
            <a:r>
              <a:rPr lang="en-US" dirty="0"/>
              <a:t>Readme file with detailed steps and required software and packages including their versions;</a:t>
            </a:r>
          </a:p>
          <a:p>
            <a:pPr>
              <a:buFontTx/>
              <a:buChar char="-"/>
            </a:pPr>
            <a:r>
              <a:rPr lang="en-US" dirty="0"/>
              <a:t>Uploaded to </a:t>
            </a:r>
            <a:r>
              <a:rPr lang="en-US" dirty="0" err="1"/>
              <a:t>Zenodo</a:t>
            </a:r>
            <a:r>
              <a:rPr lang="en-US" dirty="0"/>
              <a:t>;</a:t>
            </a:r>
          </a:p>
          <a:p>
            <a:pPr>
              <a:buFontTx/>
              <a:buChar char="-"/>
            </a:pPr>
            <a:r>
              <a:rPr lang="en-US" dirty="0"/>
              <a:t>Apache 2.0 </a:t>
            </a:r>
            <a:r>
              <a:rPr lang="en-US" dirty="0" err="1"/>
              <a:t>licence</a:t>
            </a:r>
            <a:r>
              <a:rPr lang="en-US" dirty="0"/>
              <a:t>. </a:t>
            </a:r>
          </a:p>
        </p:txBody>
      </p:sp>
    </p:spTree>
    <p:extLst>
      <p:ext uri="{BB962C8B-B14F-4D97-AF65-F5344CB8AC3E}">
        <p14:creationId xmlns:p14="http://schemas.microsoft.com/office/powerpoint/2010/main" val="26370663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A68A3-2E86-2832-2D2A-ACA117FEF4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49F4E-467E-6BCD-FF35-D6A0559DE4A8}"/>
              </a:ext>
            </a:extLst>
          </p:cNvPr>
          <p:cNvSpPr>
            <a:spLocks noGrp="1"/>
          </p:cNvSpPr>
          <p:nvPr>
            <p:ph type="title"/>
          </p:nvPr>
        </p:nvSpPr>
        <p:spPr/>
        <p:txBody>
          <a:bodyPr>
            <a:normAutofit/>
          </a:bodyPr>
          <a:lstStyle/>
          <a:p>
            <a:r>
              <a:rPr lang="en-US" sz="4000" b="1" dirty="0">
                <a:latin typeface="Aptos" panose="020B0004020202020204" pitchFamily="34" charset="0"/>
              </a:rPr>
              <a:t>Ethical considerations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08387C2D-CB01-9659-8330-1DF9F0819DC9}"/>
              </a:ext>
            </a:extLst>
          </p:cNvPr>
          <p:cNvSpPr>
            <a:spLocks noGrp="1"/>
          </p:cNvSpPr>
          <p:nvPr>
            <p:ph idx="1"/>
          </p:nvPr>
        </p:nvSpPr>
        <p:spPr/>
        <p:txBody>
          <a:bodyPr/>
          <a:lstStyle/>
          <a:p>
            <a:r>
              <a:rPr lang="en-US" dirty="0"/>
              <a:t>Carefulness in interpreting data, especially when referring to areas with low livability scores;</a:t>
            </a:r>
          </a:p>
          <a:p>
            <a:r>
              <a:rPr lang="en-US" dirty="0"/>
              <a:t>Statistical disclosure control – not outputting any individual-level or sensitive data</a:t>
            </a:r>
          </a:p>
        </p:txBody>
      </p:sp>
    </p:spTree>
    <p:extLst>
      <p:ext uri="{BB962C8B-B14F-4D97-AF65-F5344CB8AC3E}">
        <p14:creationId xmlns:p14="http://schemas.microsoft.com/office/powerpoint/2010/main" val="26195799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362F7-CF35-3AA5-265D-09DB96971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693B76-BE7F-CAEA-FFEB-3AE50DC27F05}"/>
              </a:ext>
            </a:extLst>
          </p:cNvPr>
          <p:cNvSpPr>
            <a:spLocks noGrp="1"/>
          </p:cNvSpPr>
          <p:nvPr>
            <p:ph type="title"/>
          </p:nvPr>
        </p:nvSpPr>
        <p:spPr/>
        <p:txBody>
          <a:bodyPr>
            <a:normAutofit/>
          </a:bodyPr>
          <a:lstStyle/>
          <a:p>
            <a:r>
              <a:rPr lang="en-GB" sz="4000" b="1" dirty="0">
                <a:latin typeface="Aptos" panose="020B0004020202020204" pitchFamily="34" charset="0"/>
              </a:rPr>
              <a:t>REFERENCES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5C2AB93C-1F68-C213-AE5F-0DC29232475D}"/>
              </a:ext>
            </a:extLst>
          </p:cNvPr>
          <p:cNvSpPr>
            <a:spLocks noGrp="1"/>
          </p:cNvSpPr>
          <p:nvPr>
            <p:ph idx="1"/>
          </p:nvPr>
        </p:nvSpPr>
        <p:spPr>
          <a:xfrm>
            <a:off x="838200" y="1402544"/>
            <a:ext cx="10515600" cy="4302219"/>
          </a:xfrm>
        </p:spPr>
        <p:txBody>
          <a:bodyPr>
            <a:normAutofit/>
          </a:bodyPr>
          <a:lstStyle/>
          <a:p>
            <a:pPr marL="0" indent="0">
              <a:buNone/>
            </a:pPr>
            <a:r>
              <a:rPr lang="en-GB" sz="2000" dirty="0"/>
              <a:t>CBS, </a:t>
            </a:r>
            <a:r>
              <a:rPr lang="en-GB" sz="2000" dirty="0" err="1"/>
              <a:t>Centraal</a:t>
            </a:r>
            <a:r>
              <a:rPr lang="en-GB" sz="2000" dirty="0"/>
              <a:t> Bureau </a:t>
            </a:r>
            <a:r>
              <a:rPr lang="en-GB" sz="2000" dirty="0" err="1"/>
              <a:t>voor</a:t>
            </a:r>
            <a:r>
              <a:rPr lang="en-GB" sz="2000" dirty="0"/>
              <a:t> de </a:t>
            </a:r>
            <a:r>
              <a:rPr lang="en-GB" sz="2000" dirty="0" err="1"/>
              <a:t>Statistiek</a:t>
            </a:r>
            <a:r>
              <a:rPr lang="en-GB" sz="2000" dirty="0"/>
              <a:t>. (2026). Fewer young people entering the housing market. </a:t>
            </a:r>
            <a:r>
              <a:rPr lang="en-GB" sz="2000" dirty="0">
                <a:hlinkClick r:id="rId2"/>
              </a:rPr>
              <a:t>https://www.cbs.nl/en-gb/news/2026/17/fewer-young-people-entering-the-housing-market</a:t>
            </a:r>
            <a:r>
              <a:rPr lang="en-GB" sz="2000" dirty="0"/>
              <a:t> </a:t>
            </a:r>
          </a:p>
          <a:p>
            <a:pPr marL="0" indent="0">
              <a:buNone/>
            </a:pPr>
            <a:r>
              <a:rPr lang="en-GB" sz="2000" dirty="0"/>
              <a:t>Kaal, H. (2011). A conceptual history of livability: Dutch scientists, politicians, policy makers and citizens and the quest for a </a:t>
            </a:r>
            <a:r>
              <a:rPr lang="en-GB" sz="2000" dirty="0" err="1"/>
              <a:t>livable</a:t>
            </a:r>
            <a:r>
              <a:rPr lang="en-GB" sz="2000" dirty="0"/>
              <a:t> city. City, 15(5), 532–547. https://</a:t>
            </a:r>
            <a:r>
              <a:rPr lang="en-GB" sz="2000" dirty="0" err="1"/>
              <a:t>doi.org</a:t>
            </a:r>
            <a:r>
              <a:rPr lang="en-GB" sz="2000" dirty="0"/>
              <a:t>/10.1080/13604813.2011.595094</a:t>
            </a:r>
          </a:p>
          <a:p>
            <a:pPr marL="0" indent="0">
              <a:buNone/>
            </a:pPr>
            <a:r>
              <a:rPr lang="en-GB" sz="2000" dirty="0"/>
              <a:t>Lennartz, C., Baarsma, B., &amp; </a:t>
            </a:r>
            <a:r>
              <a:rPr lang="en-GB" sz="2000" dirty="0" err="1"/>
              <a:t>Vrieselaar</a:t>
            </a:r>
            <a:r>
              <a:rPr lang="en-GB" sz="2000" dirty="0"/>
              <a:t>, N. (2019). Exploding house prices in urban housing markets: Explanations and policy solutions for the Netherlands. In </a:t>
            </a:r>
            <a:r>
              <a:rPr lang="en-GB" sz="2000" i="1" dirty="0"/>
              <a:t>Hot property: The housing market in major cities</a:t>
            </a:r>
            <a:r>
              <a:rPr lang="en-GB" sz="2000" dirty="0"/>
              <a:t> (pp. 207-221). Cham: Springer International Publishing.</a:t>
            </a:r>
          </a:p>
          <a:p>
            <a:pPr marL="0" indent="0">
              <a:buNone/>
            </a:pPr>
            <a:r>
              <a:rPr lang="en-GB" sz="2000" dirty="0" err="1"/>
              <a:t>Mandemakers</a:t>
            </a:r>
            <a:r>
              <a:rPr lang="en-GB" sz="2000" dirty="0"/>
              <a:t>, J., </a:t>
            </a:r>
            <a:r>
              <a:rPr lang="en-GB" sz="2000" dirty="0" err="1"/>
              <a:t>Leidelmeijer</a:t>
            </a:r>
            <a:r>
              <a:rPr lang="en-GB" sz="2000" dirty="0"/>
              <a:t>, K., </a:t>
            </a:r>
            <a:r>
              <a:rPr lang="en-GB" sz="2000" dirty="0" err="1"/>
              <a:t>Burema</a:t>
            </a:r>
            <a:r>
              <a:rPr lang="en-GB" sz="2000" dirty="0"/>
              <a:t>, F., Halbersma, R., </a:t>
            </a:r>
            <a:r>
              <a:rPr lang="en-GB" sz="2000" dirty="0" err="1"/>
              <a:t>Middeldorp</a:t>
            </a:r>
            <a:r>
              <a:rPr lang="en-GB" sz="2000" dirty="0"/>
              <a:t>, M. &amp; Veldkamp, J. (2021). </a:t>
            </a:r>
            <a:r>
              <a:rPr lang="en-GB" sz="2000" dirty="0" err="1"/>
              <a:t>Leefbaarometer</a:t>
            </a:r>
            <a:r>
              <a:rPr lang="en-GB" sz="2000" dirty="0"/>
              <a:t> 3.0 </a:t>
            </a:r>
            <a:r>
              <a:rPr lang="en-GB" sz="2000" dirty="0" err="1"/>
              <a:t>Instrumentontwikkeling</a:t>
            </a:r>
            <a:r>
              <a:rPr lang="en-GB" sz="2000" dirty="0"/>
              <a:t>. </a:t>
            </a:r>
            <a:r>
              <a:rPr lang="en-US" sz="2000" dirty="0">
                <a:hlinkClick r:id="rId3"/>
              </a:rPr>
              <a:t>https://www.leefbaarometer.nl/resources/LBM3Instrumentontwikkeling.pdf</a:t>
            </a:r>
            <a:r>
              <a:rPr lang="en-US" sz="2000" dirty="0"/>
              <a:t>  </a:t>
            </a:r>
          </a:p>
          <a:p>
            <a:pPr marL="0" indent="0">
              <a:buNone/>
            </a:pPr>
            <a:endParaRPr lang="en-NL" sz="2000" dirty="0"/>
          </a:p>
        </p:txBody>
      </p:sp>
    </p:spTree>
    <p:extLst>
      <p:ext uri="{BB962C8B-B14F-4D97-AF65-F5344CB8AC3E}">
        <p14:creationId xmlns:p14="http://schemas.microsoft.com/office/powerpoint/2010/main" val="3829100217"/>
      </p:ext>
    </p:extLst>
  </p:cSld>
  <p:clrMapOvr>
    <a:masterClrMapping/>
  </p:clrMapOvr>
</p:sld>
</file>

<file path=ppt/theme/theme1.xml><?xml version="1.0" encoding="utf-8"?>
<a:theme xmlns:a="http://schemas.openxmlformats.org/drawingml/2006/main" name="ShapesVTI">
  <a:themeElements>
    <a:clrScheme name="Office">
      <a:dk1>
        <a:srgbClr val="000000"/>
      </a:dk1>
      <a:lt1>
        <a:srgbClr val="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estival">
      <a:majorFont>
        <a:latin typeface="Century Gothic"/>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hapesVTI" id="{C78D20FD-A872-4243-8597-B534C62538FF}" vid="{7CAFCCF9-7834-41D6-B6AB-7D225A18A4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691</TotalTime>
  <Words>924</Words>
  <Application>Microsoft Macintosh PowerPoint</Application>
  <PresentationFormat>Widescreen</PresentationFormat>
  <Paragraphs>163</Paragraphs>
  <Slides>18</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Arial</vt:lpstr>
      <vt:lpstr>Calibri</vt:lpstr>
      <vt:lpstr>Century Gothic</vt:lpstr>
      <vt:lpstr>Wingdings</vt:lpstr>
      <vt:lpstr>ShapesVTI</vt:lpstr>
      <vt:lpstr>LIVING</vt:lpstr>
      <vt:lpstr>CONTENTS</vt:lpstr>
      <vt:lpstr>WHAT IS LIVABILITY SCORE</vt:lpstr>
      <vt:lpstr>BACKGROUND LITERATURE</vt:lpstr>
      <vt:lpstr>RESEARCH AIM &amp; OBJECTIVES</vt:lpstr>
      <vt:lpstr>RESEARCH QUESTIONS</vt:lpstr>
      <vt:lpstr>LIVABILITY SCORE</vt:lpstr>
      <vt:lpstr>PowerPoint Presentation</vt:lpstr>
      <vt:lpstr>DATA</vt:lpstr>
      <vt:lpstr>METHODOLOGY</vt:lpstr>
      <vt:lpstr>METHODOLOGY</vt:lpstr>
      <vt:lpstr>RESULTS</vt:lpstr>
      <vt:lpstr>DISCUSSION: Findings</vt:lpstr>
      <vt:lpstr>DISCUSSION: Limitations</vt:lpstr>
      <vt:lpstr>DISCUSSION: Future work</vt:lpstr>
      <vt:lpstr>Reproducibility</vt:lpstr>
      <vt:lpstr>Ethical considerations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Ilaria Lunardelli</dc:creator>
  <cp:lastModifiedBy>Tomiris Gilazh - Bristol</cp:lastModifiedBy>
  <cp:revision>7</cp:revision>
  <dcterms:created xsi:type="dcterms:W3CDTF">2026-06-16T13:02:02Z</dcterms:created>
  <dcterms:modified xsi:type="dcterms:W3CDTF">2026-06-18T15:08:35Z</dcterms:modified>
</cp:coreProperties>
</file>