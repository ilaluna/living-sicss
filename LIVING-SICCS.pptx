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9" r:id="rId1"/>
  </p:sldMasterIdLst>
  <p:notesMasterIdLst>
    <p:notesMasterId r:id="rId18"/>
  </p:notesMasterIdLst>
  <p:sldIdLst>
    <p:sldId id="256" r:id="rId2"/>
    <p:sldId id="264" r:id="rId3"/>
    <p:sldId id="265" r:id="rId4"/>
    <p:sldId id="266" r:id="rId5"/>
    <p:sldId id="263" r:id="rId6"/>
    <p:sldId id="267" r:id="rId7"/>
    <p:sldId id="259" r:id="rId8"/>
    <p:sldId id="269" r:id="rId9"/>
    <p:sldId id="258" r:id="rId10"/>
    <p:sldId id="260" r:id="rId11"/>
    <p:sldId id="270" r:id="rId12"/>
    <p:sldId id="261" r:id="rId13"/>
    <p:sldId id="273" r:id="rId14"/>
    <p:sldId id="272" r:id="rId15"/>
    <p:sldId id="274" r:id="rId16"/>
    <p:sldId id="268" r:id="rId17"/>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5"/>
    <p:restoredTop sz="94676"/>
  </p:normalViewPr>
  <p:slideViewPr>
    <p:cSldViewPr snapToGrid="0">
      <p:cViewPr>
        <p:scale>
          <a:sx n="94" d="100"/>
          <a:sy n="94" d="100"/>
        </p:scale>
        <p:origin x="1304"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31C51D-D7C2-44A5-85D3-69E93A6C6FFA}" type="datetimeFigureOut">
              <a:rPr lang="en-NL" smtClean="0"/>
              <a:t>6/18/26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9B7CD5-E554-4EF4-BDFC-2343191D4CFE}" type="slidenum">
              <a:rPr lang="en-NL" smtClean="0"/>
              <a:t>‹#›</a:t>
            </a:fld>
            <a:endParaRPr lang="en-NL"/>
          </a:p>
        </p:txBody>
      </p:sp>
    </p:spTree>
    <p:extLst>
      <p:ext uri="{BB962C8B-B14F-4D97-AF65-F5344CB8AC3E}">
        <p14:creationId xmlns:p14="http://schemas.microsoft.com/office/powerpoint/2010/main" val="33385843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2B9B7CD5-E554-4EF4-BDFC-2343191D4CFE}" type="slidenum">
              <a:rPr lang="en-NL" smtClean="0"/>
              <a:t>9</a:t>
            </a:fld>
            <a:endParaRPr lang="en-NL"/>
          </a:p>
        </p:txBody>
      </p:sp>
    </p:spTree>
    <p:extLst>
      <p:ext uri="{BB962C8B-B14F-4D97-AF65-F5344CB8AC3E}">
        <p14:creationId xmlns:p14="http://schemas.microsoft.com/office/powerpoint/2010/main" val="11238752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E1A06-8754-4870-9E44-E39BADAD98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527F020-BBC3-49BB-91C2-5B2CBD64B3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7C0C22-EBDA-4130-87AE-CB28BC19B077}"/>
              </a:ext>
            </a:extLst>
          </p:cNvPr>
          <p:cNvSpPr>
            <a:spLocks noGrp="1"/>
          </p:cNvSpPr>
          <p:nvPr>
            <p:ph type="dt" sz="half" idx="10"/>
          </p:nvPr>
        </p:nvSpPr>
        <p:spPr/>
        <p:txBody>
          <a:bodyPr/>
          <a:lstStyle/>
          <a:p>
            <a:fld id="{82EDB8D0-98ED-4B86-9D5F-E61ADC70144D}" type="datetimeFigureOut">
              <a:rPr lang="en-US" smtClean="0"/>
              <a:t>6/18/26</a:t>
            </a:fld>
            <a:endParaRPr lang="en-US" dirty="0"/>
          </a:p>
        </p:txBody>
      </p:sp>
      <p:sp>
        <p:nvSpPr>
          <p:cNvPr id="5" name="Footer Placeholder 4">
            <a:extLst>
              <a:ext uri="{FF2B5EF4-FFF2-40B4-BE49-F238E27FC236}">
                <a16:creationId xmlns:a16="http://schemas.microsoft.com/office/drawing/2014/main" id="{E2A419A8-07CA-4A4C-AEC2-C40D4D50AF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FA7B86-E610-42EA-B4DC-C2F447785273}"/>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8A7BA06D-B3FF-4E91-8639-B4569AE3AA23}"/>
              </a:ext>
            </a:extLst>
          </p:cNvPr>
          <p:cNvSpPr/>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Arc 7">
            <a:extLst>
              <a:ext uri="{FF2B5EF4-FFF2-40B4-BE49-F238E27FC236}">
                <a16:creationId xmlns:a16="http://schemas.microsoft.com/office/drawing/2014/main" id="{2B30C86D-5A07-48BC-9C9D-6F9A2DB1E9E1}"/>
              </a:ext>
            </a:extLst>
          </p:cNvPr>
          <p:cNvSpPr/>
          <p:nvPr/>
        </p:nvSpPr>
        <p:spPr>
          <a:xfrm rot="10800000" flipV="1">
            <a:off x="555710" y="106482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83913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FF209-11EE-4A3F-9685-A155FECD0D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A47AF11-F208-4FDA-9E19-D6CA3472134E}"/>
              </a:ext>
            </a:extLst>
          </p:cNvPr>
          <p:cNvSpPr>
            <a:spLocks noGrp="1"/>
          </p:cNvSpPr>
          <p:nvPr>
            <p:ph idx="1"/>
          </p:nvPr>
        </p:nvSpPr>
        <p:spPr>
          <a:xfrm>
            <a:off x="838200" y="1825625"/>
            <a:ext cx="10515600" cy="38597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E82FA1-02B7-467E-9F16-D178149407C5}"/>
              </a:ext>
            </a:extLst>
          </p:cNvPr>
          <p:cNvSpPr>
            <a:spLocks noGrp="1"/>
          </p:cNvSpPr>
          <p:nvPr>
            <p:ph type="dt" sz="half" idx="10"/>
          </p:nvPr>
        </p:nvSpPr>
        <p:spPr/>
        <p:txBody>
          <a:bodyPr/>
          <a:lstStyle/>
          <a:p>
            <a:fld id="{82EDB8D0-98ED-4B86-9D5F-E61ADC70144D}" type="datetimeFigureOut">
              <a:rPr lang="en-US" smtClean="0"/>
              <a:t>6/18/26</a:t>
            </a:fld>
            <a:endParaRPr lang="en-US" dirty="0"/>
          </a:p>
        </p:txBody>
      </p:sp>
      <p:sp>
        <p:nvSpPr>
          <p:cNvPr id="5" name="Footer Placeholder 4">
            <a:extLst>
              <a:ext uri="{FF2B5EF4-FFF2-40B4-BE49-F238E27FC236}">
                <a16:creationId xmlns:a16="http://schemas.microsoft.com/office/drawing/2014/main" id="{6D389247-FB8A-4494-859B-B3754B02A5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A5B62-3338-46A5-B381-A63B88CB0DDA}"/>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23DA7759-3209-4FE2-96D1-4EEDD81E9EA0}"/>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41460DAD-8769-4C9F-9C8C-BB0443909D76}"/>
              </a:ext>
            </a:extLst>
          </p:cNvPr>
          <p:cNvSpPr/>
          <p:nvPr/>
        </p:nvSpPr>
        <p:spPr>
          <a:xfrm flipH="1">
            <a:off x="123536"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13380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C0001-5D76-45A0-A9F4-7172BDDD5D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1462C4-0E4B-4DB7-A8BF-FE55142760A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A5F313-1240-47AE-A026-7F349292B5CA}"/>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5" name="Footer Placeholder 4">
            <a:extLst>
              <a:ext uri="{FF2B5EF4-FFF2-40B4-BE49-F238E27FC236}">
                <a16:creationId xmlns:a16="http://schemas.microsoft.com/office/drawing/2014/main" id="{22448158-6132-4335-B8E1-F6A8963837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94C5B6-1598-48B4-9B3A-3078FDBE90B7}"/>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9" name="Freeform: Shape 8">
            <a:extLst>
              <a:ext uri="{FF2B5EF4-FFF2-40B4-BE49-F238E27FC236}">
                <a16:creationId xmlns:a16="http://schemas.microsoft.com/office/drawing/2014/main" id="{FEDBDD32-D3EE-4848-A112-BA814D4631CD}"/>
              </a:ext>
            </a:extLst>
          </p:cNvPr>
          <p:cNvSpPr/>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Arc 9">
            <a:extLst>
              <a:ext uri="{FF2B5EF4-FFF2-40B4-BE49-F238E27FC236}">
                <a16:creationId xmlns:a16="http://schemas.microsoft.com/office/drawing/2014/main" id="{61350361-843C-49D0-BD6A-ECDBA3842BA0}"/>
              </a:ext>
            </a:extLst>
          </p:cNvPr>
          <p:cNvSpPr/>
          <p:nvPr/>
        </p:nvSpPr>
        <p:spPr>
          <a:xfrm rot="10800000" flipV="1">
            <a:off x="555710" y="106482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1528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BFD05-2CB2-4A7E-89E7-57615BA82B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9532B8-D460-476D-816F-725E8D96C0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F7120F-70AF-4ED5-B364-3AA55C6B44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D8B65F-F709-469F-9961-4D01896CAA12}"/>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6" name="Footer Placeholder 5">
            <a:extLst>
              <a:ext uri="{FF2B5EF4-FFF2-40B4-BE49-F238E27FC236}">
                <a16:creationId xmlns:a16="http://schemas.microsoft.com/office/drawing/2014/main" id="{B781C6BC-B23D-48BC-AD44-654DDB8D01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00D60B-86A1-479D-BCE8-06D2C3DBC94E}"/>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B4EC5136-99DA-40B5-8F79-5C3A56D38BA1}"/>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4F8FB775-26C4-41BA-837C-4478D48D215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959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2983E-E761-4429-9203-7FE8B2DB67E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921E9B7-62BE-49BA-AC6B-55250D6627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41A3FD-B90A-4C31-BD6B-581F9E2E0E5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0D1D55-B722-4968-B171-AF3B462DDA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71085A8-02C2-4E7F-935E-5AEECBAD19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8A5018-8A77-40E8-B159-4894ECF228B1}"/>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8" name="Footer Placeholder 7">
            <a:extLst>
              <a:ext uri="{FF2B5EF4-FFF2-40B4-BE49-F238E27FC236}">
                <a16:creationId xmlns:a16="http://schemas.microsoft.com/office/drawing/2014/main" id="{8AD79441-8908-4461-9FDD-BCE6388370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8D29F7D-B101-4950-A2C0-F350FB26D45F}"/>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10" name="Freeform: Shape 9">
            <a:extLst>
              <a:ext uri="{FF2B5EF4-FFF2-40B4-BE49-F238E27FC236}">
                <a16:creationId xmlns:a16="http://schemas.microsoft.com/office/drawing/2014/main" id="{862D7398-9A79-4B24-9C7D-F0DEED57C70B}"/>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Freeform: Shape 10">
            <a:extLst>
              <a:ext uri="{FF2B5EF4-FFF2-40B4-BE49-F238E27FC236}">
                <a16:creationId xmlns:a16="http://schemas.microsoft.com/office/drawing/2014/main" id="{C07F28CD-1873-4E36-A064-2D25E0A8501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72823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11BF3-02E8-4EB7-818E-652B82CF2C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4D3190-B78C-42F1-9D62-F523886BBE51}"/>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4" name="Footer Placeholder 3">
            <a:extLst>
              <a:ext uri="{FF2B5EF4-FFF2-40B4-BE49-F238E27FC236}">
                <a16:creationId xmlns:a16="http://schemas.microsoft.com/office/drawing/2014/main" id="{EA381C40-F9FC-4D58-8508-F0632DF5A01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101CBCC-4CC2-49BD-B155-01E0F4D798BE}"/>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6" name="Freeform: Shape 5">
            <a:extLst>
              <a:ext uri="{FF2B5EF4-FFF2-40B4-BE49-F238E27FC236}">
                <a16:creationId xmlns:a16="http://schemas.microsoft.com/office/drawing/2014/main" id="{DC13EF9C-0B5A-4364-91AA-E5DD5B536E54}"/>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Freeform: Shape 6">
            <a:extLst>
              <a:ext uri="{FF2B5EF4-FFF2-40B4-BE49-F238E27FC236}">
                <a16:creationId xmlns:a16="http://schemas.microsoft.com/office/drawing/2014/main" id="{8F674475-6327-490A-BD7F-084F5C07F2E4}"/>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46490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024287-C9B9-48AC-8E4D-A282DE2F44F5}"/>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3" name="Footer Placeholder 2">
            <a:extLst>
              <a:ext uri="{FF2B5EF4-FFF2-40B4-BE49-F238E27FC236}">
                <a16:creationId xmlns:a16="http://schemas.microsoft.com/office/drawing/2014/main" id="{2D34C9A2-75A7-4164-B3B8-E6A9D60BA0B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CBE73CE-2859-4D49-A9EC-26AF3FBDF6A3}"/>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5" name="Freeform: Shape 4">
            <a:extLst>
              <a:ext uri="{FF2B5EF4-FFF2-40B4-BE49-F238E27FC236}">
                <a16:creationId xmlns:a16="http://schemas.microsoft.com/office/drawing/2014/main" id="{AA5ED585-FEBB-4DAD-84C0-97BEE6C360C3}"/>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Freeform: Shape 5">
            <a:extLst>
              <a:ext uri="{FF2B5EF4-FFF2-40B4-BE49-F238E27FC236}">
                <a16:creationId xmlns:a16="http://schemas.microsoft.com/office/drawing/2014/main" id="{EF6AC352-A720-4DB3-87CA-A33B0607CA2F}"/>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1669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FC812-4DB6-4F98-9404-29C191D3BA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F0855E-0CD6-47DD-B648-4C84C783D7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D50082B-17D7-4D61-8AEB-81517D85D2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A70783-FF31-4C4E-9196-EB169B209747}"/>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6" name="Footer Placeholder 5">
            <a:extLst>
              <a:ext uri="{FF2B5EF4-FFF2-40B4-BE49-F238E27FC236}">
                <a16:creationId xmlns:a16="http://schemas.microsoft.com/office/drawing/2014/main" id="{7D92E260-747D-40FD-A062-9DD5E6835A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7E50A0-1E05-49C5-88C9-46267751201F}"/>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2C155C63-9F58-4422-B669-F97486280671}"/>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385DBA62-0EDB-47AA-86C7-90463BC9B308}"/>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6609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D7521-E43D-41D1-B458-26B20DC6DD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2472CF2-2653-4B98-A416-D7A0A860EC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6EF87F5-0B10-4AC7-9599-F088C5E796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A07CB7-0520-4D64-B76C-C31AC557832D}"/>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6" name="Footer Placeholder 5">
            <a:extLst>
              <a:ext uri="{FF2B5EF4-FFF2-40B4-BE49-F238E27FC236}">
                <a16:creationId xmlns:a16="http://schemas.microsoft.com/office/drawing/2014/main" id="{92EEB226-AD45-45DF-AAB5-5513AE732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E96AEB-9481-4CCE-B110-FEDD334835B8}"/>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6BA9707F-7BCE-464F-BF45-E216527084EE}"/>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BC589723-2CC8-49D1-B4E1-36FECED6A2D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98700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E5D1-6D19-4E7F-9B4E-42326B7716F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D2A06C-F91A-4ADC-9CD2-61F0A4D7EE1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3AA9A-2280-4F63-8B3D-20742AE6901F}"/>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5" name="Footer Placeholder 4">
            <a:extLst>
              <a:ext uri="{FF2B5EF4-FFF2-40B4-BE49-F238E27FC236}">
                <a16:creationId xmlns:a16="http://schemas.microsoft.com/office/drawing/2014/main" id="{E40D986B-E58E-43B6-8A80-FFA9D8F748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140D36-2E71-4F27-967F-7A3E4C6EE197}"/>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C1609904-5327-4D2C-A445-B270A00F3B5F}"/>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30FC7BEC-08C5-4D95-9C84-B48BC8AD1C94}"/>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342143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1FEA3D-0C7F-45CD-B6A0-942F707B363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E8B8A12-BCE6-4D03-A637-1DEC8924BEF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749755-9FF4-428A-AEB7-1A6477466741}"/>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5" name="Footer Placeholder 4">
            <a:extLst>
              <a:ext uri="{FF2B5EF4-FFF2-40B4-BE49-F238E27FC236}">
                <a16:creationId xmlns:a16="http://schemas.microsoft.com/office/drawing/2014/main" id="{A5141836-11E2-49FD-877D-53B74514A9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D24C42-4B05-4EEF-BE14-29041EC9C0E5}"/>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5BADDEB1-F604-408B-B02A-A2814606E6AF}"/>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D8DF7987-332F-4D6C-81C3-990F39C76C96}"/>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3874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EC5685-19F1-49DA-ADE5-D5D32F1659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FC0A4D-22A1-4554-B5DE-887974F4DF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9D5CDC-F2CE-410E-AD13-DDC235C71C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100" cap="none" spc="0" baseline="0">
                <a:solidFill>
                  <a:schemeClr val="tx1">
                    <a:tint val="75000"/>
                  </a:schemeClr>
                </a:solidFill>
                <a:latin typeface="+mn-lt"/>
              </a:defRPr>
            </a:lvl1pPr>
          </a:lstStyle>
          <a:p>
            <a:fld id="{82EDB8D0-98ED-4B86-9D5F-E61ADC70144D}" type="datetimeFigureOut">
              <a:rPr lang="en-US" smtClean="0"/>
              <a:pPr/>
              <a:t>6/18/26</a:t>
            </a:fld>
            <a:endParaRPr lang="en-US" dirty="0"/>
          </a:p>
        </p:txBody>
      </p:sp>
      <p:sp>
        <p:nvSpPr>
          <p:cNvPr id="5" name="Footer Placeholder 4">
            <a:extLst>
              <a:ext uri="{FF2B5EF4-FFF2-40B4-BE49-F238E27FC236}">
                <a16:creationId xmlns:a16="http://schemas.microsoft.com/office/drawing/2014/main" id="{9340CD45-794A-4BB0-A427-0CE61AEAF4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cap="none" spc="0" baseline="0">
                <a:solidFill>
                  <a:schemeClr val="tx1">
                    <a:tint val="75000"/>
                  </a:schemeClr>
                </a:solidFill>
                <a:latin typeface="+mn-lt"/>
              </a:defRPr>
            </a:lvl1pPr>
          </a:lstStyle>
          <a:p>
            <a:endParaRPr lang="en-US"/>
          </a:p>
        </p:txBody>
      </p:sp>
      <p:sp>
        <p:nvSpPr>
          <p:cNvPr id="6" name="Slide Number Placeholder 5">
            <a:extLst>
              <a:ext uri="{FF2B5EF4-FFF2-40B4-BE49-F238E27FC236}">
                <a16:creationId xmlns:a16="http://schemas.microsoft.com/office/drawing/2014/main" id="{FCB3AB91-9588-4071-92D2-364F4A6ED0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100" cap="none" spc="0" baseline="0">
                <a:solidFill>
                  <a:schemeClr val="tx1">
                    <a:tint val="75000"/>
                  </a:schemeClr>
                </a:solidFill>
                <a:latin typeface="+mn-lt"/>
              </a:defRPr>
            </a:lvl1pPr>
          </a:lstStyle>
          <a:p>
            <a:fld id="{4854181D-6920-4594-9A5D-6CE56DC9F8B2}" type="slidenum">
              <a:rPr lang="en-US" smtClean="0"/>
              <a:pPr/>
              <a:t>‹#›</a:t>
            </a:fld>
            <a:endParaRPr lang="en-US"/>
          </a:p>
        </p:txBody>
      </p:sp>
    </p:spTree>
    <p:extLst>
      <p:ext uri="{BB962C8B-B14F-4D97-AF65-F5344CB8AC3E}">
        <p14:creationId xmlns:p14="http://schemas.microsoft.com/office/powerpoint/2010/main" val="2190710377"/>
      </p:ext>
    </p:extLst>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28" r:id="rId5"/>
    <p:sldLayoutId id="2147483733" r:id="rId6"/>
    <p:sldLayoutId id="2147483729" r:id="rId7"/>
    <p:sldLayoutId id="2147483730" r:id="rId8"/>
    <p:sldLayoutId id="2147483731" r:id="rId9"/>
    <p:sldLayoutId id="2147483732" r:id="rId10"/>
    <p:sldLayoutId id="2147483734" r:id="rId11"/>
  </p:sldLayoutIdLst>
  <p:txStyles>
    <p:titleStyle>
      <a:lvl1pPr algn="l" defTabSz="914400" rtl="0" eaLnBrk="1" latinLnBrk="0" hangingPunct="1">
        <a:lnSpc>
          <a:spcPct val="90000"/>
        </a:lnSpc>
        <a:spcBef>
          <a:spcPct val="0"/>
        </a:spcBef>
        <a:buNone/>
        <a:defRPr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www.leefbaarometer.nl/resources/LBM3Instrumentontwikkeling.pdf"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www.leefbaarometer.nl/resources/LBM3Instrumentontwikkeling.pdf" TargetMode="External"/><Relationship Id="rId2" Type="http://schemas.openxmlformats.org/officeDocument/2006/relationships/hyperlink" Target="https://www.cbs.nl/en-gb/news/2026/17/fewer-young-people-entering-the-housing-marke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1D7EC86-7CB9-431D-8AC3-8AAF0440B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D4B9777F-B610-419B-9193-80306388F3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Arc">
            <a:extLst>
              <a:ext uri="{FF2B5EF4-FFF2-40B4-BE49-F238E27FC236}">
                <a16:creationId xmlns:a16="http://schemas.microsoft.com/office/drawing/2014/main" id="{311F016A-A753-449B-9EA6-322199B711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427715">
            <a:off x="1108520" y="775849"/>
            <a:ext cx="2987899" cy="2987899"/>
          </a:xfrm>
          <a:prstGeom prst="arc">
            <a:avLst>
              <a:gd name="adj1" fmla="val 16200000"/>
              <a:gd name="adj2" fmla="val 2287352"/>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A261A4F-1346-A6DD-D4C8-26086A3E5450}"/>
              </a:ext>
            </a:extLst>
          </p:cNvPr>
          <p:cNvSpPr>
            <a:spLocks noGrp="1"/>
          </p:cNvSpPr>
          <p:nvPr>
            <p:ph type="ctrTitle"/>
          </p:nvPr>
        </p:nvSpPr>
        <p:spPr>
          <a:xfrm>
            <a:off x="860742" y="1124988"/>
            <a:ext cx="4425962" cy="2387600"/>
          </a:xfrm>
        </p:spPr>
        <p:txBody>
          <a:bodyPr vert="horz" lIns="91440" tIns="45720" rIns="91440" bIns="45720" rtlCol="0" anchor="b">
            <a:normAutofit/>
          </a:bodyPr>
          <a:lstStyle/>
          <a:p>
            <a:pPr algn="l"/>
            <a:r>
              <a:rPr lang="en-US" b="1" kern="1200" dirty="0">
                <a:solidFill>
                  <a:schemeClr val="tx1"/>
                </a:solidFill>
                <a:latin typeface="Aptos" panose="020B0004020202020204" pitchFamily="34" charset="0"/>
              </a:rPr>
              <a:t>LIVING</a:t>
            </a:r>
          </a:p>
        </p:txBody>
      </p:sp>
      <p:sp>
        <p:nvSpPr>
          <p:cNvPr id="3" name="Subtitle 2">
            <a:extLst>
              <a:ext uri="{FF2B5EF4-FFF2-40B4-BE49-F238E27FC236}">
                <a16:creationId xmlns:a16="http://schemas.microsoft.com/office/drawing/2014/main" id="{3E217CD0-BD87-485E-BAC3-77CFE8A21881}"/>
              </a:ext>
            </a:extLst>
          </p:cNvPr>
          <p:cNvSpPr>
            <a:spLocks noGrp="1"/>
          </p:cNvSpPr>
          <p:nvPr>
            <p:ph type="subTitle" idx="1"/>
          </p:nvPr>
        </p:nvSpPr>
        <p:spPr>
          <a:xfrm>
            <a:off x="860742" y="3633691"/>
            <a:ext cx="4788944" cy="1655762"/>
          </a:xfrm>
        </p:spPr>
        <p:txBody>
          <a:bodyPr vert="horz" lIns="91440" tIns="45720" rIns="91440" bIns="45720" rtlCol="0">
            <a:normAutofit/>
          </a:bodyPr>
          <a:lstStyle/>
          <a:p>
            <a:pPr algn="l"/>
            <a:r>
              <a:rPr lang="en-US" sz="2800" kern="1200" dirty="0">
                <a:solidFill>
                  <a:schemeClr val="tx1"/>
                </a:solidFill>
                <a:latin typeface="Aptos" panose="020B0004020202020204" pitchFamily="34" charset="0"/>
              </a:rPr>
              <a:t>Livability maps and prediction</a:t>
            </a:r>
          </a:p>
        </p:txBody>
      </p:sp>
      <p:pic>
        <p:nvPicPr>
          <p:cNvPr id="5" name="Picture 4">
            <a:extLst>
              <a:ext uri="{FF2B5EF4-FFF2-40B4-BE49-F238E27FC236}">
                <a16:creationId xmlns:a16="http://schemas.microsoft.com/office/drawing/2014/main" id="{000B8CC1-AF07-597B-A93F-0ADAAE57C7B5}"/>
              </a:ext>
            </a:extLst>
          </p:cNvPr>
          <p:cNvPicPr>
            <a:picLocks noChangeAspect="1"/>
          </p:cNvPicPr>
          <p:nvPr/>
        </p:nvPicPr>
        <p:blipFill>
          <a:blip r:embed="rId2"/>
          <a:srcRect l="23911" r="752" b="-1"/>
          <a:stretch>
            <a:fillRect/>
          </a:stretch>
        </p:blipFill>
        <p:spPr>
          <a:xfrm>
            <a:off x="5733768" y="-1"/>
            <a:ext cx="6458232" cy="6858001"/>
          </a:xfrm>
          <a:custGeom>
            <a:avLst/>
            <a:gdLst/>
            <a:ahLst/>
            <a:cxnLst/>
            <a:rect l="l" t="t" r="r" b="b"/>
            <a:pathLst>
              <a:path w="6458232" h="6858001">
                <a:moveTo>
                  <a:pt x="2209000" y="0"/>
                </a:moveTo>
                <a:lnTo>
                  <a:pt x="6458232" y="0"/>
                </a:lnTo>
                <a:lnTo>
                  <a:pt x="6458232" y="6858001"/>
                </a:lnTo>
                <a:lnTo>
                  <a:pt x="651045" y="6858001"/>
                </a:lnTo>
                <a:lnTo>
                  <a:pt x="635146" y="6830200"/>
                </a:lnTo>
                <a:cubicBezTo>
                  <a:pt x="230085" y="6080469"/>
                  <a:pt x="0" y="5221296"/>
                  <a:pt x="0" y="4308089"/>
                </a:cubicBezTo>
                <a:cubicBezTo>
                  <a:pt x="0" y="2572997"/>
                  <a:pt x="830606" y="1032965"/>
                  <a:pt x="2113832" y="68046"/>
                </a:cubicBezTo>
                <a:close/>
              </a:path>
            </a:pathLst>
          </a:custGeom>
        </p:spPr>
      </p:pic>
      <p:sp>
        <p:nvSpPr>
          <p:cNvPr id="16" name="!!Rectangle">
            <a:extLst>
              <a:ext uri="{FF2B5EF4-FFF2-40B4-BE49-F238E27FC236}">
                <a16:creationId xmlns:a16="http://schemas.microsoft.com/office/drawing/2014/main" id="{95106A28-883A-4993-BF9E-C403B81A8D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94269" y="4274457"/>
            <a:ext cx="825256" cy="825256"/>
          </a:xfrm>
          <a:prstGeom prst="rect">
            <a:avLst/>
          </a:prstGeom>
          <a:noFill/>
          <a:ln w="127000">
            <a:solidFill>
              <a:schemeClr val="accent6"/>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8" name="!!Oval">
            <a:extLst>
              <a:ext uri="{FF2B5EF4-FFF2-40B4-BE49-F238E27FC236}">
                <a16:creationId xmlns:a16="http://schemas.microsoft.com/office/drawing/2014/main" id="{F5AE4E4F-9F4C-43ED-8299-9BD63B74E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742" y="5649686"/>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 name="Subtitle 2">
            <a:extLst>
              <a:ext uri="{FF2B5EF4-FFF2-40B4-BE49-F238E27FC236}">
                <a16:creationId xmlns:a16="http://schemas.microsoft.com/office/drawing/2014/main" id="{EDD6139A-D06B-4356-A5D6-9B88DA7FAB9E}"/>
              </a:ext>
            </a:extLst>
          </p:cNvPr>
          <p:cNvSpPr txBox="1">
            <a:spLocks/>
          </p:cNvSpPr>
          <p:nvPr/>
        </p:nvSpPr>
        <p:spPr>
          <a:xfrm>
            <a:off x="1524000" y="5158631"/>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NL" sz="2000" dirty="0">
                <a:latin typeface="Aptos" panose="020B0004020202020204" pitchFamily="34" charset="0"/>
              </a:rPr>
              <a:t>Tomiris </a:t>
            </a:r>
            <a:r>
              <a:rPr lang="en-NL" sz="2000" dirty="0" err="1">
                <a:latin typeface="Aptos" panose="020B0004020202020204" pitchFamily="34" charset="0"/>
              </a:rPr>
              <a:t>Gilazh</a:t>
            </a:r>
            <a:endParaRPr lang="en-US" sz="2000" dirty="0">
              <a:latin typeface="Aptos" panose="020B0004020202020204" pitchFamily="34" charset="0"/>
            </a:endParaRPr>
          </a:p>
          <a:p>
            <a:pPr algn="l"/>
            <a:r>
              <a:rPr lang="en-NL" sz="2000" dirty="0">
                <a:latin typeface="Aptos" panose="020B0004020202020204" pitchFamily="34" charset="0"/>
              </a:rPr>
              <a:t>David </a:t>
            </a:r>
            <a:r>
              <a:rPr lang="en-NL" sz="2000" dirty="0" err="1">
                <a:latin typeface="Aptos" panose="020B0004020202020204" pitchFamily="34" charset="0"/>
              </a:rPr>
              <a:t>Leitritz</a:t>
            </a:r>
            <a:endParaRPr lang="en-US" sz="2000" dirty="0">
              <a:latin typeface="Aptos" panose="020B0004020202020204" pitchFamily="34" charset="0"/>
            </a:endParaRPr>
          </a:p>
          <a:p>
            <a:pPr algn="l"/>
            <a:r>
              <a:rPr lang="en-NL" sz="2000" dirty="0">
                <a:latin typeface="Aptos" panose="020B0004020202020204" pitchFamily="34" charset="0"/>
              </a:rPr>
              <a:t>Ilaria Francesca Lunardelli</a:t>
            </a:r>
          </a:p>
        </p:txBody>
      </p:sp>
    </p:spTree>
    <p:extLst>
      <p:ext uri="{BB962C8B-B14F-4D97-AF65-F5344CB8AC3E}">
        <p14:creationId xmlns:p14="http://schemas.microsoft.com/office/powerpoint/2010/main" val="2085872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CD4AA-BA5C-71F8-F212-C45A214F0193}"/>
              </a:ext>
            </a:extLst>
          </p:cNvPr>
          <p:cNvSpPr>
            <a:spLocks noGrp="1"/>
          </p:cNvSpPr>
          <p:nvPr>
            <p:ph type="title"/>
          </p:nvPr>
        </p:nvSpPr>
        <p:spPr/>
        <p:txBody>
          <a:bodyPr/>
          <a:lstStyle/>
          <a:p>
            <a:r>
              <a:rPr lang="en-US" b="1" dirty="0">
                <a:latin typeface="Aptos" panose="020B0004020202020204" pitchFamily="34" charset="0"/>
              </a:rPr>
              <a:t>CONTENTS</a:t>
            </a:r>
          </a:p>
        </p:txBody>
      </p:sp>
      <p:sp>
        <p:nvSpPr>
          <p:cNvPr id="3" name="Content Placeholder 2">
            <a:extLst>
              <a:ext uri="{FF2B5EF4-FFF2-40B4-BE49-F238E27FC236}">
                <a16:creationId xmlns:a16="http://schemas.microsoft.com/office/drawing/2014/main" id="{462B88E1-5B37-04A2-26AA-C1C21DF3DCAE}"/>
              </a:ext>
            </a:extLst>
          </p:cNvPr>
          <p:cNvSpPr>
            <a:spLocks noGrp="1"/>
          </p:cNvSpPr>
          <p:nvPr>
            <p:ph idx="1"/>
          </p:nvPr>
        </p:nvSpPr>
        <p:spPr>
          <a:xfrm>
            <a:off x="838200" y="1499128"/>
            <a:ext cx="10515600" cy="4110101"/>
          </a:xfrm>
        </p:spPr>
        <p:txBody>
          <a:bodyPr>
            <a:normAutofit fontScale="85000" lnSpcReduction="20000"/>
          </a:bodyPr>
          <a:lstStyle/>
          <a:p>
            <a:r>
              <a:rPr lang="en-US" dirty="0"/>
              <a:t>What is Livability score</a:t>
            </a:r>
          </a:p>
          <a:p>
            <a:r>
              <a:rPr lang="en-US" dirty="0"/>
              <a:t>Background literature</a:t>
            </a:r>
          </a:p>
          <a:p>
            <a:r>
              <a:rPr lang="en-US" dirty="0"/>
              <a:t>Research aim and questions</a:t>
            </a:r>
          </a:p>
          <a:p>
            <a:r>
              <a:rPr lang="en-US" dirty="0"/>
              <a:t>Overview of Livability score</a:t>
            </a:r>
          </a:p>
          <a:p>
            <a:r>
              <a:rPr lang="en-US" dirty="0"/>
              <a:t>Data</a:t>
            </a:r>
          </a:p>
          <a:p>
            <a:r>
              <a:rPr lang="en-US" dirty="0"/>
              <a:t>Methodology</a:t>
            </a:r>
          </a:p>
          <a:p>
            <a:r>
              <a:rPr lang="en-US" dirty="0"/>
              <a:t>Results</a:t>
            </a:r>
          </a:p>
          <a:p>
            <a:r>
              <a:rPr lang="en-US" dirty="0"/>
              <a:t>Discussion: findings</a:t>
            </a:r>
          </a:p>
          <a:p>
            <a:r>
              <a:rPr lang="en-US" dirty="0"/>
              <a:t>Discussion: limitations</a:t>
            </a:r>
          </a:p>
          <a:p>
            <a:r>
              <a:rPr lang="en-US" dirty="0"/>
              <a:t>Discussion: future work</a:t>
            </a:r>
          </a:p>
          <a:p>
            <a:r>
              <a:rPr lang="en-US" dirty="0"/>
              <a:t>Reproducibility</a:t>
            </a:r>
            <a:r>
              <a:rPr lang="ru-RU" dirty="0"/>
              <a:t> </a:t>
            </a:r>
            <a:r>
              <a:rPr lang="en-GB" dirty="0"/>
              <a:t>and ethnical considerations</a:t>
            </a:r>
            <a:endParaRPr lang="en-US" dirty="0"/>
          </a:p>
          <a:p>
            <a:r>
              <a:rPr lang="en-US" dirty="0"/>
              <a:t>References</a:t>
            </a:r>
          </a:p>
          <a:p>
            <a:endParaRPr lang="en-US" dirty="0"/>
          </a:p>
        </p:txBody>
      </p:sp>
    </p:spTree>
    <p:extLst>
      <p:ext uri="{BB962C8B-B14F-4D97-AF65-F5344CB8AC3E}">
        <p14:creationId xmlns:p14="http://schemas.microsoft.com/office/powerpoint/2010/main" val="37440387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5D309-BD8D-BF96-AE15-FD6F2E14DC39}"/>
              </a:ext>
            </a:extLst>
          </p:cNvPr>
          <p:cNvSpPr>
            <a:spLocks noGrp="1"/>
          </p:cNvSpPr>
          <p:nvPr>
            <p:ph type="title"/>
          </p:nvPr>
        </p:nvSpPr>
        <p:spPr/>
        <p:txBody>
          <a:bodyPr/>
          <a:lstStyle/>
          <a:p>
            <a:r>
              <a:rPr lang="en-US" b="1" dirty="0">
                <a:latin typeface="Aptos" panose="020B0004020202020204" pitchFamily="34" charset="0"/>
              </a:rPr>
              <a:t>WHAT IS LIVABILITY SCORE</a:t>
            </a:r>
          </a:p>
        </p:txBody>
      </p:sp>
      <p:sp>
        <p:nvSpPr>
          <p:cNvPr id="3" name="Content Placeholder 2">
            <a:extLst>
              <a:ext uri="{FF2B5EF4-FFF2-40B4-BE49-F238E27FC236}">
                <a16:creationId xmlns:a16="http://schemas.microsoft.com/office/drawing/2014/main" id="{2838A703-8E6A-3C14-DA4A-8978519EB3DB}"/>
              </a:ext>
            </a:extLst>
          </p:cNvPr>
          <p:cNvSpPr>
            <a:spLocks noGrp="1"/>
          </p:cNvSpPr>
          <p:nvPr>
            <p:ph idx="1"/>
          </p:nvPr>
        </p:nvSpPr>
        <p:spPr>
          <a:xfrm>
            <a:off x="838200" y="1591450"/>
            <a:ext cx="10515600" cy="3859742"/>
          </a:xfrm>
        </p:spPr>
        <p:txBody>
          <a:bodyPr/>
          <a:lstStyle/>
          <a:p>
            <a:r>
              <a:rPr lang="en-US" b="1" dirty="0"/>
              <a:t>Leefbaarometer</a:t>
            </a:r>
            <a:r>
              <a:rPr lang="ru-RU" dirty="0"/>
              <a:t> (</a:t>
            </a:r>
            <a:r>
              <a:rPr lang="en-GB" dirty="0"/>
              <a:t>Livability Meter) – an instrument that provides an estimate of livability based on a large number of characteristics of the residential environment.</a:t>
            </a:r>
          </a:p>
          <a:p>
            <a:r>
              <a:rPr lang="en-GB" dirty="0"/>
              <a:t>Is intended to provide a picture of where livability is expected to be good or poor; is a monitoring instrument</a:t>
            </a:r>
          </a:p>
          <a:p>
            <a:endParaRPr lang="ru-RU" dirty="0"/>
          </a:p>
          <a:p>
            <a:endParaRPr lang="en-US" dirty="0"/>
          </a:p>
        </p:txBody>
      </p:sp>
      <p:sp>
        <p:nvSpPr>
          <p:cNvPr id="4" name="TextBox 3">
            <a:extLst>
              <a:ext uri="{FF2B5EF4-FFF2-40B4-BE49-F238E27FC236}">
                <a16:creationId xmlns:a16="http://schemas.microsoft.com/office/drawing/2014/main" id="{935A0AC2-DDF9-DEE0-DFF4-CC79A7E30FFB}"/>
              </a:ext>
            </a:extLst>
          </p:cNvPr>
          <p:cNvSpPr txBox="1"/>
          <p:nvPr/>
        </p:nvSpPr>
        <p:spPr>
          <a:xfrm>
            <a:off x="838200" y="6211229"/>
            <a:ext cx="10346473" cy="276999"/>
          </a:xfrm>
          <a:prstGeom prst="rect">
            <a:avLst/>
          </a:prstGeom>
          <a:noFill/>
        </p:spPr>
        <p:txBody>
          <a:bodyPr wrap="square" rtlCol="0">
            <a:spAutoFit/>
          </a:bodyPr>
          <a:lstStyle/>
          <a:p>
            <a:r>
              <a:rPr lang="en-US" sz="1200" dirty="0"/>
              <a:t>Source: Leefbaarometer 3.0 </a:t>
            </a:r>
            <a:r>
              <a:rPr lang="en-US" sz="1200" dirty="0" err="1"/>
              <a:t>Instrumentontwikkeling</a:t>
            </a:r>
            <a:r>
              <a:rPr lang="en-US" sz="1200" dirty="0"/>
              <a:t> </a:t>
            </a:r>
            <a:r>
              <a:rPr lang="en-US" sz="1200" dirty="0">
                <a:hlinkClick r:id="rId2"/>
              </a:rPr>
              <a:t>https://www.leefbaarometer.nl/resources/LBM3Instrumentontwikkeling.pdf</a:t>
            </a:r>
            <a:r>
              <a:rPr lang="en-US" sz="1200" dirty="0"/>
              <a:t> </a:t>
            </a:r>
          </a:p>
        </p:txBody>
      </p:sp>
      <p:sp>
        <p:nvSpPr>
          <p:cNvPr id="5" name="Rounded Rectangle 4">
            <a:extLst>
              <a:ext uri="{FF2B5EF4-FFF2-40B4-BE49-F238E27FC236}">
                <a16:creationId xmlns:a16="http://schemas.microsoft.com/office/drawing/2014/main" id="{8A625C58-C048-815C-5253-11DC804B04AC}"/>
              </a:ext>
            </a:extLst>
          </p:cNvPr>
          <p:cNvSpPr/>
          <p:nvPr/>
        </p:nvSpPr>
        <p:spPr>
          <a:xfrm>
            <a:off x="1191322" y="3740587"/>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Environment</a:t>
            </a:r>
          </a:p>
        </p:txBody>
      </p:sp>
      <p:sp>
        <p:nvSpPr>
          <p:cNvPr id="6" name="Rounded Rectangle 5">
            <a:extLst>
              <a:ext uri="{FF2B5EF4-FFF2-40B4-BE49-F238E27FC236}">
                <a16:creationId xmlns:a16="http://schemas.microsoft.com/office/drawing/2014/main" id="{FDF02185-E1A3-55FD-4A51-51D2F638035C}"/>
              </a:ext>
            </a:extLst>
          </p:cNvPr>
          <p:cNvSpPr/>
          <p:nvPr/>
        </p:nvSpPr>
        <p:spPr>
          <a:xfrm>
            <a:off x="3183673" y="3740587"/>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Housing</a:t>
            </a:r>
          </a:p>
        </p:txBody>
      </p:sp>
      <p:sp>
        <p:nvSpPr>
          <p:cNvPr id="7" name="Rounded Rectangle 6">
            <a:extLst>
              <a:ext uri="{FF2B5EF4-FFF2-40B4-BE49-F238E27FC236}">
                <a16:creationId xmlns:a16="http://schemas.microsoft.com/office/drawing/2014/main" id="{1E59471D-39F4-FEEB-2D92-DC9142EC690A}"/>
              </a:ext>
            </a:extLst>
          </p:cNvPr>
          <p:cNvSpPr/>
          <p:nvPr/>
        </p:nvSpPr>
        <p:spPr>
          <a:xfrm>
            <a:off x="5176024" y="3740586"/>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Amenities</a:t>
            </a:r>
          </a:p>
        </p:txBody>
      </p:sp>
      <p:sp>
        <p:nvSpPr>
          <p:cNvPr id="8" name="Rounded Rectangle 7">
            <a:extLst>
              <a:ext uri="{FF2B5EF4-FFF2-40B4-BE49-F238E27FC236}">
                <a16:creationId xmlns:a16="http://schemas.microsoft.com/office/drawing/2014/main" id="{D1CC55CD-7811-E068-5A7C-6235908397AA}"/>
              </a:ext>
            </a:extLst>
          </p:cNvPr>
          <p:cNvSpPr/>
          <p:nvPr/>
        </p:nvSpPr>
        <p:spPr>
          <a:xfrm>
            <a:off x="7168375" y="3740585"/>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Social</a:t>
            </a:r>
            <a:r>
              <a:rPr lang="en-US" dirty="0"/>
              <a:t> </a:t>
            </a:r>
            <a:r>
              <a:rPr lang="en-US" dirty="0">
                <a:solidFill>
                  <a:schemeClr val="tx1"/>
                </a:solidFill>
              </a:rPr>
              <a:t>cohesion</a:t>
            </a:r>
          </a:p>
        </p:txBody>
      </p:sp>
      <p:sp>
        <p:nvSpPr>
          <p:cNvPr id="9" name="Rounded Rectangle 8">
            <a:extLst>
              <a:ext uri="{FF2B5EF4-FFF2-40B4-BE49-F238E27FC236}">
                <a16:creationId xmlns:a16="http://schemas.microsoft.com/office/drawing/2014/main" id="{6C4F4B04-1FFE-9456-9874-1E9852CD1A4E}"/>
              </a:ext>
            </a:extLst>
          </p:cNvPr>
          <p:cNvSpPr/>
          <p:nvPr/>
        </p:nvSpPr>
        <p:spPr>
          <a:xfrm>
            <a:off x="9160726" y="3740585"/>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Safety</a:t>
            </a:r>
          </a:p>
        </p:txBody>
      </p:sp>
    </p:spTree>
    <p:extLst>
      <p:ext uri="{BB962C8B-B14F-4D97-AF65-F5344CB8AC3E}">
        <p14:creationId xmlns:p14="http://schemas.microsoft.com/office/powerpoint/2010/main" val="9396033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98250-9428-263F-C9C5-5A97E199F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888F-CF55-7EDD-093F-A0C54340FC31}"/>
              </a:ext>
            </a:extLst>
          </p:cNvPr>
          <p:cNvSpPr>
            <a:spLocks noGrp="1"/>
          </p:cNvSpPr>
          <p:nvPr>
            <p:ph type="title"/>
          </p:nvPr>
        </p:nvSpPr>
        <p:spPr/>
        <p:txBody>
          <a:bodyPr>
            <a:normAutofit/>
          </a:bodyPr>
          <a:lstStyle/>
          <a:p>
            <a:r>
              <a:rPr lang="en-US" sz="4000" b="1" dirty="0">
                <a:latin typeface="Aptos" panose="020B0004020202020204" pitchFamily="34" charset="0"/>
              </a:rPr>
              <a:t>BACKGROUND LITERATURE</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7221B41F-0191-34FF-5243-69C449026F90}"/>
              </a:ext>
            </a:extLst>
          </p:cNvPr>
          <p:cNvSpPr>
            <a:spLocks noGrp="1"/>
          </p:cNvSpPr>
          <p:nvPr>
            <p:ph idx="1"/>
          </p:nvPr>
        </p:nvSpPr>
        <p:spPr/>
        <p:txBody>
          <a:bodyPr>
            <a:normAutofit fontScale="92500" lnSpcReduction="20000"/>
          </a:bodyPr>
          <a:lstStyle/>
          <a:p>
            <a:r>
              <a:rPr lang="en-GB" sz="2000" dirty="0"/>
              <a:t>Concept of ‘livability’ is very fluid and changes over time (Kaal, 2011; </a:t>
            </a:r>
            <a:r>
              <a:rPr lang="en-GB" sz="2000" dirty="0" err="1"/>
              <a:t>Mandemakers</a:t>
            </a:r>
            <a:r>
              <a:rPr lang="en-GB" sz="2000" dirty="0"/>
              <a:t> et al., 2021).</a:t>
            </a:r>
          </a:p>
          <a:p>
            <a:r>
              <a:rPr lang="en-GB" sz="2000" dirty="0"/>
              <a:t>Livability meter is meant to reflect what people value. The model includes variables that are objective measures of environment. However, the dimensions are selected based on survey from 2018 and housing market choices data 2019-2022 (</a:t>
            </a:r>
            <a:r>
              <a:rPr lang="en-GB" sz="2000" dirty="0" err="1"/>
              <a:t>Mandemakers</a:t>
            </a:r>
            <a:r>
              <a:rPr lang="en-GB" sz="2000" dirty="0"/>
              <a:t> et al., 2021).</a:t>
            </a:r>
          </a:p>
          <a:p>
            <a:pPr marL="0" indent="0">
              <a:buNone/>
            </a:pPr>
            <a:endParaRPr lang="en-GB" sz="2000" dirty="0"/>
          </a:p>
          <a:p>
            <a:r>
              <a:rPr lang="en-GB" sz="2000" dirty="0"/>
              <a:t>Limitations:</a:t>
            </a:r>
            <a:br>
              <a:rPr lang="en-GB" sz="2000" dirty="0"/>
            </a:br>
            <a:r>
              <a:rPr lang="en-GB" sz="2000" dirty="0"/>
              <a:t>- potential outdatedness of the opinions from 2018 and doesn’t include them in the model;</a:t>
            </a:r>
            <a:br>
              <a:rPr lang="en-GB" sz="2000" dirty="0"/>
            </a:br>
            <a:r>
              <a:rPr lang="en-GB" sz="2000" dirty="0"/>
              <a:t>- poor representativeness of housing market choices as fewer people are able to purchase houses and the first-time buyers age has been increasing (CBS, 2026; Lennartz et al., 2019);</a:t>
            </a:r>
            <a:br>
              <a:rPr lang="en-GB" sz="2000" dirty="0"/>
            </a:br>
            <a:r>
              <a:rPr lang="en-GB" sz="2000" dirty="0"/>
              <a:t>- the dimensions are not necessarily comprehensive – based on the availability of data</a:t>
            </a:r>
          </a:p>
        </p:txBody>
      </p:sp>
    </p:spTree>
    <p:extLst>
      <p:ext uri="{BB962C8B-B14F-4D97-AF65-F5344CB8AC3E}">
        <p14:creationId xmlns:p14="http://schemas.microsoft.com/office/powerpoint/2010/main" val="14867672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114CE-3A47-AFD5-8B03-147194BCDE56}"/>
              </a:ext>
            </a:extLst>
          </p:cNvPr>
          <p:cNvSpPr>
            <a:spLocks noGrp="1"/>
          </p:cNvSpPr>
          <p:nvPr>
            <p:ph type="title"/>
          </p:nvPr>
        </p:nvSpPr>
        <p:spPr/>
        <p:txBody>
          <a:bodyPr/>
          <a:lstStyle/>
          <a:p>
            <a:r>
              <a:rPr lang="en-US" b="1" dirty="0"/>
              <a:t>RESEARCH AIM &amp; OBJECTIVES</a:t>
            </a:r>
          </a:p>
        </p:txBody>
      </p:sp>
      <p:sp>
        <p:nvSpPr>
          <p:cNvPr id="3" name="Content Placeholder 2">
            <a:extLst>
              <a:ext uri="{FF2B5EF4-FFF2-40B4-BE49-F238E27FC236}">
                <a16:creationId xmlns:a16="http://schemas.microsoft.com/office/drawing/2014/main" id="{18DFE17C-99DB-E666-E7C2-0E384C99A025}"/>
              </a:ext>
            </a:extLst>
          </p:cNvPr>
          <p:cNvSpPr>
            <a:spLocks noGrp="1"/>
          </p:cNvSpPr>
          <p:nvPr>
            <p:ph idx="1"/>
          </p:nvPr>
        </p:nvSpPr>
        <p:spPr/>
        <p:txBody>
          <a:bodyPr/>
          <a:lstStyle/>
          <a:p>
            <a:pPr marL="0" indent="0">
              <a:buNone/>
            </a:pPr>
            <a:r>
              <a:rPr lang="en-US" dirty="0"/>
              <a:t>We aim to investigate which predictors available from survey and administrative data can predict the livability scores.</a:t>
            </a:r>
          </a:p>
          <a:p>
            <a:pPr marL="0" indent="0">
              <a:buNone/>
            </a:pPr>
            <a:endParaRPr lang="en-US" dirty="0"/>
          </a:p>
          <a:p>
            <a:pPr marL="0" indent="0">
              <a:buNone/>
            </a:pPr>
            <a:r>
              <a:rPr lang="en-US" dirty="0"/>
              <a:t>Objectives:</a:t>
            </a:r>
          </a:p>
          <a:p>
            <a:pPr marL="0" indent="0">
              <a:buNone/>
            </a:pPr>
            <a:r>
              <a:rPr lang="en-US" dirty="0"/>
              <a:t>- Use Exposome, </a:t>
            </a:r>
            <a:r>
              <a:rPr lang="en-US" dirty="0" err="1"/>
              <a:t>Firmbackbone</a:t>
            </a:r>
            <a:r>
              <a:rPr lang="en-US" dirty="0"/>
              <a:t>, LISS to explore predictors for livability that match the Livability meter dimensions and also go beyond;</a:t>
            </a:r>
          </a:p>
          <a:p>
            <a:pPr>
              <a:buFontTx/>
              <a:buChar char="-"/>
            </a:pPr>
            <a:r>
              <a:rPr lang="en-US" dirty="0"/>
              <a:t>Compare “objective” and “subjective” livability.</a:t>
            </a:r>
          </a:p>
        </p:txBody>
      </p:sp>
    </p:spTree>
    <p:extLst>
      <p:ext uri="{BB962C8B-B14F-4D97-AF65-F5344CB8AC3E}">
        <p14:creationId xmlns:p14="http://schemas.microsoft.com/office/powerpoint/2010/main" val="245806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780B8-1D4D-2196-D574-C778F0FAA6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E4E09E-B465-656A-B9A8-B3524CD432EE}"/>
              </a:ext>
            </a:extLst>
          </p:cNvPr>
          <p:cNvSpPr>
            <a:spLocks noGrp="1"/>
          </p:cNvSpPr>
          <p:nvPr>
            <p:ph type="title"/>
          </p:nvPr>
        </p:nvSpPr>
        <p:spPr/>
        <p:txBody>
          <a:bodyPr/>
          <a:lstStyle/>
          <a:p>
            <a:r>
              <a:rPr lang="en-US" b="1" dirty="0"/>
              <a:t>RESEARCH QUESTIONS</a:t>
            </a:r>
          </a:p>
        </p:txBody>
      </p:sp>
      <p:sp>
        <p:nvSpPr>
          <p:cNvPr id="3" name="Content Placeholder 2">
            <a:extLst>
              <a:ext uri="{FF2B5EF4-FFF2-40B4-BE49-F238E27FC236}">
                <a16:creationId xmlns:a16="http://schemas.microsoft.com/office/drawing/2014/main" id="{CCA3BEB6-BB5F-38E3-EC09-415912A4E9DD}"/>
              </a:ext>
            </a:extLst>
          </p:cNvPr>
          <p:cNvSpPr>
            <a:spLocks noGrp="1"/>
          </p:cNvSpPr>
          <p:nvPr>
            <p:ph idx="1"/>
          </p:nvPr>
        </p:nvSpPr>
        <p:spPr/>
        <p:txBody>
          <a:bodyPr/>
          <a:lstStyle/>
          <a:p>
            <a:pPr marL="457200" indent="-457200">
              <a:buAutoNum type="arabicPeriod"/>
            </a:pPr>
            <a:r>
              <a:rPr lang="en-GB" dirty="0"/>
              <a:t>What alternative model using administrative data can predict livability score in the Netherlands?</a:t>
            </a:r>
            <a:r>
              <a:rPr lang="ru-RU" dirty="0"/>
              <a:t> </a:t>
            </a:r>
            <a:endParaRPr lang="en-GB" dirty="0"/>
          </a:p>
          <a:p>
            <a:pPr marL="457200" indent="-457200">
              <a:buAutoNum type="arabicPeriod"/>
            </a:pPr>
            <a:r>
              <a:rPr lang="en-GB" dirty="0"/>
              <a:t>What alternative model using survey data can predict livability score in the Netherlands?</a:t>
            </a:r>
          </a:p>
          <a:p>
            <a:pPr marL="457200" indent="-457200">
              <a:buAutoNum type="arabicPeriod"/>
            </a:pPr>
            <a:r>
              <a:rPr lang="en-GB" dirty="0"/>
              <a:t>What are the differences between predicted (administrative and survey-based) and official livability scores?</a:t>
            </a:r>
            <a:endParaRPr lang="en-US" dirty="0"/>
          </a:p>
        </p:txBody>
      </p:sp>
    </p:spTree>
    <p:extLst>
      <p:ext uri="{BB962C8B-B14F-4D97-AF65-F5344CB8AC3E}">
        <p14:creationId xmlns:p14="http://schemas.microsoft.com/office/powerpoint/2010/main" val="3445527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D5AA4-39E8-7D88-FF14-AEEA7CC8AC7B}"/>
              </a:ext>
            </a:extLst>
          </p:cNvPr>
          <p:cNvSpPr>
            <a:spLocks noGrp="1"/>
          </p:cNvSpPr>
          <p:nvPr>
            <p:ph type="title"/>
          </p:nvPr>
        </p:nvSpPr>
        <p:spPr/>
        <p:txBody>
          <a:bodyPr>
            <a:normAutofit/>
          </a:bodyPr>
          <a:lstStyle/>
          <a:p>
            <a:r>
              <a:rPr lang="en-US" sz="4000" b="1" dirty="0">
                <a:latin typeface="Aptos" panose="020B0004020202020204" pitchFamily="34" charset="0"/>
              </a:rPr>
              <a:t>LIVABILITY SCORE</a:t>
            </a:r>
            <a:endParaRPr lang="en-NL" sz="4000" dirty="0"/>
          </a:p>
        </p:txBody>
      </p:sp>
      <p:sp>
        <p:nvSpPr>
          <p:cNvPr id="3" name="Content Placeholder 2">
            <a:extLst>
              <a:ext uri="{FF2B5EF4-FFF2-40B4-BE49-F238E27FC236}">
                <a16:creationId xmlns:a16="http://schemas.microsoft.com/office/drawing/2014/main" id="{532078A8-6BB5-7041-FA15-FF26060FEB86}"/>
              </a:ext>
            </a:extLst>
          </p:cNvPr>
          <p:cNvSpPr>
            <a:spLocks noGrp="1"/>
          </p:cNvSpPr>
          <p:nvPr>
            <p:ph idx="1"/>
          </p:nvPr>
        </p:nvSpPr>
        <p:spPr>
          <a:xfrm>
            <a:off x="838200" y="1499129"/>
            <a:ext cx="10515600" cy="3859742"/>
          </a:xfrm>
        </p:spPr>
        <p:txBody>
          <a:bodyPr/>
          <a:lstStyle/>
          <a:p>
            <a:r>
              <a:rPr lang="en-US" dirty="0"/>
              <a:t>OVERVIEW OF DIMENSIONS</a:t>
            </a:r>
            <a:r>
              <a:rPr lang="ru-RU" dirty="0"/>
              <a:t> (</a:t>
            </a:r>
            <a:r>
              <a:rPr lang="ru-RU" dirty="0" err="1"/>
              <a:t>m</a:t>
            </a:r>
            <a:r>
              <a:rPr lang="en-GB" dirty="0"/>
              <a:t>ore details in the following slide)</a:t>
            </a:r>
          </a:p>
          <a:p>
            <a:endParaRPr lang="en-GB" dirty="0"/>
          </a:p>
          <a:p>
            <a:endParaRPr lang="en-GB" dirty="0"/>
          </a:p>
          <a:p>
            <a:endParaRPr lang="en-GB" dirty="0"/>
          </a:p>
          <a:p>
            <a:pPr marL="0" indent="0">
              <a:buNone/>
            </a:pPr>
            <a:endParaRPr lang="en-GB" dirty="0"/>
          </a:p>
          <a:p>
            <a:pPr marL="0" indent="0">
              <a:buNone/>
            </a:pPr>
            <a:endParaRPr lang="en-GB" dirty="0"/>
          </a:p>
          <a:p>
            <a:r>
              <a:rPr lang="en-US" dirty="0"/>
              <a:t>VISUALIZATION in Shiny Dashboard</a:t>
            </a:r>
            <a:endParaRPr lang="en-NL" dirty="0"/>
          </a:p>
        </p:txBody>
      </p:sp>
      <p:sp>
        <p:nvSpPr>
          <p:cNvPr id="9" name="Rounded Rectangle 8">
            <a:extLst>
              <a:ext uri="{FF2B5EF4-FFF2-40B4-BE49-F238E27FC236}">
                <a16:creationId xmlns:a16="http://schemas.microsoft.com/office/drawing/2014/main" id="{98B4C42F-10D3-D851-96CF-7A1017EDD3BB}"/>
              </a:ext>
            </a:extLst>
          </p:cNvPr>
          <p:cNvSpPr/>
          <p:nvPr/>
        </p:nvSpPr>
        <p:spPr>
          <a:xfrm>
            <a:off x="838200" y="2203532"/>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Environment</a:t>
            </a:r>
          </a:p>
        </p:txBody>
      </p:sp>
      <p:sp>
        <p:nvSpPr>
          <p:cNvPr id="10" name="Rounded Rectangle 9">
            <a:extLst>
              <a:ext uri="{FF2B5EF4-FFF2-40B4-BE49-F238E27FC236}">
                <a16:creationId xmlns:a16="http://schemas.microsoft.com/office/drawing/2014/main" id="{46085A97-EA68-2DEA-E42F-513D745E3F14}"/>
              </a:ext>
            </a:extLst>
          </p:cNvPr>
          <p:cNvSpPr/>
          <p:nvPr/>
        </p:nvSpPr>
        <p:spPr>
          <a:xfrm>
            <a:off x="2830551" y="2203532"/>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Housing</a:t>
            </a:r>
          </a:p>
        </p:txBody>
      </p:sp>
      <p:sp>
        <p:nvSpPr>
          <p:cNvPr id="11" name="Rounded Rectangle 10">
            <a:extLst>
              <a:ext uri="{FF2B5EF4-FFF2-40B4-BE49-F238E27FC236}">
                <a16:creationId xmlns:a16="http://schemas.microsoft.com/office/drawing/2014/main" id="{3FE1837C-3F85-D5DF-6A7A-007D4BAB7E88}"/>
              </a:ext>
            </a:extLst>
          </p:cNvPr>
          <p:cNvSpPr/>
          <p:nvPr/>
        </p:nvSpPr>
        <p:spPr>
          <a:xfrm>
            <a:off x="4822902" y="2203531"/>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Amenities</a:t>
            </a:r>
          </a:p>
        </p:txBody>
      </p:sp>
      <p:sp>
        <p:nvSpPr>
          <p:cNvPr id="12" name="Rounded Rectangle 11">
            <a:extLst>
              <a:ext uri="{FF2B5EF4-FFF2-40B4-BE49-F238E27FC236}">
                <a16:creationId xmlns:a16="http://schemas.microsoft.com/office/drawing/2014/main" id="{66A37F30-DA56-4A91-049A-17DBAA5BFDBA}"/>
              </a:ext>
            </a:extLst>
          </p:cNvPr>
          <p:cNvSpPr/>
          <p:nvPr/>
        </p:nvSpPr>
        <p:spPr>
          <a:xfrm>
            <a:off x="6815253" y="2203530"/>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Social</a:t>
            </a:r>
            <a:r>
              <a:rPr lang="en-US" dirty="0"/>
              <a:t> </a:t>
            </a:r>
            <a:r>
              <a:rPr lang="en-US" dirty="0">
                <a:solidFill>
                  <a:schemeClr val="tx1"/>
                </a:solidFill>
              </a:rPr>
              <a:t>cohesion</a:t>
            </a:r>
          </a:p>
        </p:txBody>
      </p:sp>
      <p:sp>
        <p:nvSpPr>
          <p:cNvPr id="13" name="Rounded Rectangle 12">
            <a:extLst>
              <a:ext uri="{FF2B5EF4-FFF2-40B4-BE49-F238E27FC236}">
                <a16:creationId xmlns:a16="http://schemas.microsoft.com/office/drawing/2014/main" id="{D0648173-59EC-57BF-44DA-7B1629A96B04}"/>
              </a:ext>
            </a:extLst>
          </p:cNvPr>
          <p:cNvSpPr/>
          <p:nvPr/>
        </p:nvSpPr>
        <p:spPr>
          <a:xfrm>
            <a:off x="8807604" y="2203530"/>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Safety</a:t>
            </a:r>
          </a:p>
        </p:txBody>
      </p:sp>
    </p:spTree>
    <p:extLst>
      <p:ext uri="{BB962C8B-B14F-4D97-AF65-F5344CB8AC3E}">
        <p14:creationId xmlns:p14="http://schemas.microsoft.com/office/powerpoint/2010/main" val="929769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47DC7B0-801F-F792-2FCD-4C6AA0CABA9D}"/>
              </a:ext>
            </a:extLst>
          </p:cNvPr>
          <p:cNvGraphicFramePr>
            <a:graphicFrameLocks noGrp="1"/>
          </p:cNvGraphicFramePr>
          <p:nvPr>
            <p:extLst>
              <p:ext uri="{D42A27DB-BD31-4B8C-83A1-F6EECF244321}">
                <p14:modId xmlns:p14="http://schemas.microsoft.com/office/powerpoint/2010/main" val="1321921666"/>
              </p:ext>
            </p:extLst>
          </p:nvPr>
        </p:nvGraphicFramePr>
        <p:xfrm>
          <a:off x="0" y="0"/>
          <a:ext cx="12192000" cy="6858000"/>
        </p:xfrm>
        <a:graphic>
          <a:graphicData uri="http://schemas.openxmlformats.org/drawingml/2006/table">
            <a:tbl>
              <a:tblPr firstRow="1" firstCol="1" bandRow="1">
                <a:tableStyleId>{91EBBBCC-DAD2-459C-BE2E-F6DE35CF9A28}</a:tableStyleId>
              </a:tblPr>
              <a:tblGrid>
                <a:gridCol w="2031416">
                  <a:extLst>
                    <a:ext uri="{9D8B030D-6E8A-4147-A177-3AD203B41FA5}">
                      <a16:colId xmlns:a16="http://schemas.microsoft.com/office/drawing/2014/main" val="3660263680"/>
                    </a:ext>
                  </a:extLst>
                </a:gridCol>
                <a:gridCol w="2032292">
                  <a:extLst>
                    <a:ext uri="{9D8B030D-6E8A-4147-A177-3AD203B41FA5}">
                      <a16:colId xmlns:a16="http://schemas.microsoft.com/office/drawing/2014/main" val="648409947"/>
                    </a:ext>
                  </a:extLst>
                </a:gridCol>
                <a:gridCol w="2032292">
                  <a:extLst>
                    <a:ext uri="{9D8B030D-6E8A-4147-A177-3AD203B41FA5}">
                      <a16:colId xmlns:a16="http://schemas.microsoft.com/office/drawing/2014/main" val="2368400089"/>
                    </a:ext>
                  </a:extLst>
                </a:gridCol>
                <a:gridCol w="2031416">
                  <a:extLst>
                    <a:ext uri="{9D8B030D-6E8A-4147-A177-3AD203B41FA5}">
                      <a16:colId xmlns:a16="http://schemas.microsoft.com/office/drawing/2014/main" val="51067763"/>
                    </a:ext>
                  </a:extLst>
                </a:gridCol>
                <a:gridCol w="2032292">
                  <a:extLst>
                    <a:ext uri="{9D8B030D-6E8A-4147-A177-3AD203B41FA5}">
                      <a16:colId xmlns:a16="http://schemas.microsoft.com/office/drawing/2014/main" val="3037930058"/>
                    </a:ext>
                  </a:extLst>
                </a:gridCol>
                <a:gridCol w="2032292">
                  <a:extLst>
                    <a:ext uri="{9D8B030D-6E8A-4147-A177-3AD203B41FA5}">
                      <a16:colId xmlns:a16="http://schemas.microsoft.com/office/drawing/2014/main" val="1202942625"/>
                    </a:ext>
                  </a:extLst>
                </a:gridCol>
              </a:tblGrid>
              <a:tr h="365039">
                <a:tc gridSpan="2">
                  <a:txBody>
                    <a:bodyPr/>
                    <a:lstStyle/>
                    <a:p>
                      <a:pPr algn="ctr">
                        <a:lnSpc>
                          <a:spcPct val="115000"/>
                        </a:lnSpc>
                        <a:spcAft>
                          <a:spcPts val="800"/>
                        </a:spcAft>
                        <a:buNone/>
                      </a:pPr>
                      <a:r>
                        <a:rPr lang="en-GB" sz="1400" kern="100" dirty="0">
                          <a:effectLst/>
                        </a:rPr>
                        <a:t>Environment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algn="ctr">
                        <a:lnSpc>
                          <a:spcPct val="115000"/>
                        </a:lnSpc>
                        <a:spcAft>
                          <a:spcPts val="800"/>
                        </a:spcAft>
                        <a:buNone/>
                      </a:pPr>
                      <a:r>
                        <a:rPr lang="en-GB" sz="1400" kern="100" dirty="0">
                          <a:effectLst/>
                        </a:rPr>
                        <a:t>Housing</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Amenities</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Social cohesion</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Safety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559469"/>
                  </a:ext>
                </a:extLst>
              </a:tr>
              <a:tr h="365039">
                <a:tc>
                  <a:txBody>
                    <a:bodyPr/>
                    <a:lstStyle/>
                    <a:p>
                      <a:pPr algn="ctr">
                        <a:lnSpc>
                          <a:spcPct val="115000"/>
                        </a:lnSpc>
                        <a:spcAft>
                          <a:spcPts val="800"/>
                        </a:spcAft>
                        <a:buNone/>
                      </a:pPr>
                      <a:r>
                        <a:rPr lang="en-GB" sz="1400" kern="100" dirty="0">
                          <a:effectLst/>
                        </a:rPr>
                        <a:t>Natural environment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b="1" kern="100" dirty="0">
                          <a:effectLst/>
                        </a:rPr>
                        <a:t>Infrastructure</a:t>
                      </a:r>
                      <a:endParaRPr lang="en-GB" sz="14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8826315"/>
                  </a:ext>
                </a:extLst>
              </a:tr>
              <a:tr h="6127922">
                <a:tc>
                  <a:txBody>
                    <a:bodyPr/>
                    <a:lstStyle/>
                    <a:p>
                      <a:pPr>
                        <a:lnSpc>
                          <a:spcPct val="115000"/>
                        </a:lnSpc>
                        <a:spcAft>
                          <a:spcPts val="800"/>
                        </a:spcAft>
                        <a:buNone/>
                      </a:pPr>
                      <a:r>
                        <a:rPr lang="en-GB" sz="1400" b="0" kern="100" dirty="0">
                          <a:effectLst/>
                        </a:rPr>
                        <a:t>Air quality</a:t>
                      </a:r>
                    </a:p>
                    <a:p>
                      <a:pPr>
                        <a:lnSpc>
                          <a:spcPct val="115000"/>
                        </a:lnSpc>
                        <a:spcAft>
                          <a:spcPts val="800"/>
                        </a:spcAft>
                        <a:buNone/>
                      </a:pPr>
                      <a:r>
                        <a:rPr lang="en-GB" sz="1400" b="0" kern="100" dirty="0">
                          <a:effectLst/>
                        </a:rPr>
                        <a:t>Noise pollution</a:t>
                      </a:r>
                    </a:p>
                    <a:p>
                      <a:pPr>
                        <a:lnSpc>
                          <a:spcPct val="115000"/>
                        </a:lnSpc>
                        <a:spcAft>
                          <a:spcPts val="800"/>
                        </a:spcAft>
                        <a:buNone/>
                      </a:pPr>
                      <a:r>
                        <a:rPr lang="en-GB" sz="1400" b="0" kern="100" dirty="0">
                          <a:effectLst/>
                        </a:rPr>
                        <a:t>Non-ionizing radiation</a:t>
                      </a:r>
                    </a:p>
                    <a:p>
                      <a:pPr>
                        <a:lnSpc>
                          <a:spcPct val="115000"/>
                        </a:lnSpc>
                        <a:spcAft>
                          <a:spcPts val="800"/>
                        </a:spcAft>
                        <a:buNone/>
                      </a:pPr>
                      <a:r>
                        <a:rPr lang="en-GB" sz="1400" b="0" kern="100" dirty="0">
                          <a:effectLst/>
                        </a:rPr>
                        <a:t>Feels like temperature/heat stress</a:t>
                      </a:r>
                    </a:p>
                    <a:p>
                      <a:pPr>
                        <a:lnSpc>
                          <a:spcPct val="115000"/>
                        </a:lnSpc>
                        <a:spcAft>
                          <a:spcPts val="800"/>
                        </a:spcAft>
                        <a:buNone/>
                      </a:pPr>
                      <a:r>
                        <a:rPr lang="en-GB" sz="1400" b="0" kern="100" dirty="0">
                          <a:effectLst/>
                        </a:rPr>
                        <a:t>Flooding</a:t>
                      </a:r>
                    </a:p>
                    <a:p>
                      <a:pPr>
                        <a:lnSpc>
                          <a:spcPct val="115000"/>
                        </a:lnSpc>
                        <a:spcAft>
                          <a:spcPts val="800"/>
                        </a:spcAft>
                        <a:buNone/>
                      </a:pPr>
                      <a:r>
                        <a:rPr lang="en-GB" sz="1400" b="0" kern="100" dirty="0">
                          <a:effectLst/>
                        </a:rPr>
                        <a:t>Groundwater nuisance/soil subsidence</a:t>
                      </a:r>
                    </a:p>
                    <a:p>
                      <a:pPr>
                        <a:lnSpc>
                          <a:spcPct val="115000"/>
                        </a:lnSpc>
                        <a:spcAft>
                          <a:spcPts val="800"/>
                        </a:spcAft>
                        <a:buNone/>
                      </a:pPr>
                      <a:r>
                        <a:rPr lang="en-GB" sz="1400" b="0" kern="100" dirty="0">
                          <a:effectLst/>
                        </a:rPr>
                        <a:t>Earthquakes</a:t>
                      </a:r>
                    </a:p>
                    <a:p>
                      <a:pPr>
                        <a:lnSpc>
                          <a:spcPct val="115000"/>
                        </a:lnSpc>
                        <a:spcAft>
                          <a:spcPts val="800"/>
                        </a:spcAft>
                        <a:buNone/>
                      </a:pPr>
                      <a:r>
                        <a:rPr lang="en-GB" sz="1400" b="0" kern="100" dirty="0">
                          <a:effectLst/>
                        </a:rPr>
                        <a:t>Flood depth</a:t>
                      </a:r>
                    </a:p>
                    <a:p>
                      <a:pPr>
                        <a:lnSpc>
                          <a:spcPct val="115000"/>
                        </a:lnSpc>
                        <a:spcAft>
                          <a:spcPts val="800"/>
                        </a:spcAft>
                        <a:buNone/>
                      </a:pPr>
                      <a:r>
                        <a:rPr lang="en-GB" sz="1400" b="0" kern="100" dirty="0">
                          <a:effectLst/>
                        </a:rPr>
                        <a:t>Proximity to forest/green space</a:t>
                      </a:r>
                    </a:p>
                    <a:p>
                      <a:pPr>
                        <a:lnSpc>
                          <a:spcPct val="115000"/>
                        </a:lnSpc>
                        <a:spcAft>
                          <a:spcPts val="800"/>
                        </a:spcAft>
                        <a:buNone/>
                      </a:pPr>
                      <a:r>
                        <a:rPr lang="en-GB" sz="1400" b="0" kern="100" dirty="0">
                          <a:effectLst/>
                        </a:rPr>
                        <a:t>Air quality</a:t>
                      </a:r>
                    </a:p>
                    <a:p>
                      <a:pPr>
                        <a:lnSpc>
                          <a:spcPct val="115000"/>
                        </a:lnSpc>
                        <a:spcAft>
                          <a:spcPts val="800"/>
                        </a:spcAft>
                        <a:buNone/>
                      </a:pPr>
                      <a:r>
                        <a:rPr lang="en-GB" sz="1400" b="0" kern="100" dirty="0">
                          <a:effectLst/>
                        </a:rPr>
                        <a:t>Proximity to landscape attractive for recreation</a:t>
                      </a:r>
                    </a:p>
                    <a:p>
                      <a:pPr>
                        <a:lnSpc>
                          <a:spcPct val="115000"/>
                        </a:lnSpc>
                        <a:spcAft>
                          <a:spcPts val="800"/>
                        </a:spcAft>
                        <a:buNone/>
                      </a:pPr>
                      <a:r>
                        <a:rPr lang="en-GB" sz="1400" b="0" kern="100" dirty="0">
                          <a:effectLst/>
                        </a:rPr>
                        <a:t>Variety of landscapes</a:t>
                      </a:r>
                      <a:endParaRPr lang="en-GB" sz="14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Proximity to (through) roads</a:t>
                      </a:r>
                    </a:p>
                    <a:p>
                      <a:pPr>
                        <a:lnSpc>
                          <a:spcPct val="115000"/>
                        </a:lnSpc>
                        <a:spcAft>
                          <a:spcPts val="800"/>
                        </a:spcAft>
                        <a:buNone/>
                      </a:pPr>
                      <a:r>
                        <a:rPr lang="en-GB" sz="1400" kern="100" dirty="0">
                          <a:effectLst/>
                        </a:rPr>
                        <a:t>Proximity to rail infrastructure</a:t>
                      </a:r>
                    </a:p>
                    <a:p>
                      <a:pPr>
                        <a:lnSpc>
                          <a:spcPct val="115000"/>
                        </a:lnSpc>
                        <a:spcAft>
                          <a:spcPts val="800"/>
                        </a:spcAft>
                        <a:buNone/>
                      </a:pPr>
                      <a:r>
                        <a:rPr lang="en-GB" sz="1400" kern="100" dirty="0">
                          <a:effectLst/>
                        </a:rPr>
                        <a:t>Traffic safety</a:t>
                      </a:r>
                    </a:p>
                    <a:p>
                      <a:pPr>
                        <a:lnSpc>
                          <a:spcPct val="115000"/>
                        </a:lnSpc>
                        <a:spcAft>
                          <a:spcPts val="800"/>
                        </a:spcAft>
                        <a:buNone/>
                      </a:pPr>
                      <a:r>
                        <a:rPr lang="en-GB" sz="1400" kern="100" dirty="0">
                          <a:effectLst/>
                        </a:rPr>
                        <a:t>Car density</a:t>
                      </a:r>
                    </a:p>
                    <a:p>
                      <a:pPr>
                        <a:lnSpc>
                          <a:spcPct val="115000"/>
                        </a:lnSpc>
                        <a:spcAft>
                          <a:spcPts val="800"/>
                        </a:spcAft>
                        <a:buNone/>
                      </a:pPr>
                      <a:r>
                        <a:rPr lang="en-GB" sz="1400" kern="100" dirty="0">
                          <a:effectLst/>
                        </a:rPr>
                        <a:t>Proximity to wind turbines</a:t>
                      </a:r>
                    </a:p>
                    <a:p>
                      <a:pPr>
                        <a:lnSpc>
                          <a:spcPct val="115000"/>
                        </a:lnSpc>
                        <a:spcAft>
                          <a:spcPts val="800"/>
                        </a:spcAft>
                        <a:buNone/>
                      </a:pPr>
                      <a:r>
                        <a:rPr lang="en-GB" sz="1400" kern="100" dirty="0">
                          <a:effectLst/>
                        </a:rPr>
                        <a:t>Proximity to high-voltage pylons</a:t>
                      </a:r>
                    </a:p>
                    <a:p>
                      <a:pPr>
                        <a:lnSpc>
                          <a:spcPct val="115000"/>
                        </a:lnSpc>
                        <a:spcAft>
                          <a:spcPts val="800"/>
                        </a:spcAft>
                        <a:buNone/>
                      </a:pPr>
                      <a:r>
                        <a:rPr lang="en-GB" sz="1400" kern="100" dirty="0">
                          <a:effectLst/>
                        </a:rPr>
                        <a:t>Quality of walking and cycling paths</a:t>
                      </a:r>
                    </a:p>
                    <a:p>
                      <a:pPr>
                        <a:lnSpc>
                          <a:spcPct val="115000"/>
                        </a:lnSpc>
                        <a:spcAft>
                          <a:spcPts val="800"/>
                        </a:spcAft>
                        <a:buNone/>
                      </a:pPr>
                      <a:r>
                        <a:rPr lang="en-GB" sz="1400" kern="100" dirty="0">
                          <a:effectLst/>
                        </a:rPr>
                        <a:t>Mixed-use development</a:t>
                      </a:r>
                    </a:p>
                    <a:p>
                      <a:pPr>
                        <a:lnSpc>
                          <a:spcPct val="115000"/>
                        </a:lnSpc>
                        <a:spcAft>
                          <a:spcPts val="800"/>
                        </a:spcAft>
                        <a:buNone/>
                      </a:pPr>
                      <a:r>
                        <a:rPr lang="en-GB" sz="1400" kern="100" dirty="0">
                          <a:effectLst/>
                        </a:rPr>
                        <a:t>Vacancy of non-residential real estate</a:t>
                      </a:r>
                    </a:p>
                    <a:p>
                      <a:pPr>
                        <a:lnSpc>
                          <a:spcPct val="115000"/>
                        </a:lnSpc>
                        <a:spcAft>
                          <a:spcPts val="800"/>
                        </a:spcAft>
                        <a:buNone/>
                      </a:pPr>
                      <a:r>
                        <a:rPr lang="en-GB" sz="1400" kern="100" dirty="0">
                          <a:effectLst/>
                        </a:rPr>
                        <a:t>Walkability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Housing vacancy</a:t>
                      </a:r>
                    </a:p>
                    <a:p>
                      <a:pPr>
                        <a:lnSpc>
                          <a:spcPct val="115000"/>
                        </a:lnSpc>
                        <a:spcAft>
                          <a:spcPts val="800"/>
                        </a:spcAft>
                        <a:buNone/>
                      </a:pPr>
                      <a:r>
                        <a:rPr lang="en-GB" sz="1400" kern="100" dirty="0">
                          <a:effectLst/>
                        </a:rPr>
                        <a:t>Building density</a:t>
                      </a:r>
                    </a:p>
                    <a:p>
                      <a:pPr>
                        <a:lnSpc>
                          <a:spcPct val="115000"/>
                        </a:lnSpc>
                        <a:spcAft>
                          <a:spcPts val="800"/>
                        </a:spcAft>
                        <a:buNone/>
                      </a:pPr>
                      <a:r>
                        <a:rPr lang="en-GB" sz="1400" kern="100" dirty="0">
                          <a:effectLst/>
                        </a:rPr>
                        <a:t>Foundation problems</a:t>
                      </a:r>
                    </a:p>
                    <a:p>
                      <a:pPr>
                        <a:lnSpc>
                          <a:spcPct val="115000"/>
                        </a:lnSpc>
                        <a:spcAft>
                          <a:spcPts val="800"/>
                        </a:spcAft>
                        <a:buNone/>
                      </a:pPr>
                      <a:r>
                        <a:rPr lang="en-GB" sz="1400" kern="100" dirty="0">
                          <a:effectLst/>
                        </a:rPr>
                        <a:t>Mixing of ownership structures</a:t>
                      </a:r>
                    </a:p>
                    <a:p>
                      <a:pPr>
                        <a:lnSpc>
                          <a:spcPct val="115000"/>
                        </a:lnSpc>
                        <a:spcAft>
                          <a:spcPts val="800"/>
                        </a:spcAft>
                        <a:buNone/>
                      </a:pPr>
                      <a:r>
                        <a:rPr lang="en-GB" sz="1400" kern="100" dirty="0">
                          <a:effectLst/>
                        </a:rPr>
                        <a:t>Energy quality</a:t>
                      </a:r>
                    </a:p>
                    <a:p>
                      <a:pPr>
                        <a:lnSpc>
                          <a:spcPct val="115000"/>
                        </a:lnSpc>
                        <a:spcAft>
                          <a:spcPts val="800"/>
                        </a:spcAft>
                        <a:buNone/>
                      </a:pPr>
                      <a:r>
                        <a:rPr lang="en-GB" sz="1400" kern="100" dirty="0">
                          <a:effectLst/>
                        </a:rPr>
                        <a:t>Home ownership</a:t>
                      </a:r>
                    </a:p>
                    <a:p>
                      <a:pPr>
                        <a:lnSpc>
                          <a:spcPct val="115000"/>
                        </a:lnSpc>
                        <a:spcAft>
                          <a:spcPts val="800"/>
                        </a:spcAft>
                        <a:buNone/>
                      </a:pPr>
                      <a:r>
                        <a:rPr lang="en-GB" sz="1400" kern="100" dirty="0">
                          <a:effectLst/>
                        </a:rPr>
                        <a:t>Specific poorly maintained segments</a:t>
                      </a:r>
                    </a:p>
                    <a:p>
                      <a:pPr>
                        <a:lnSpc>
                          <a:spcPct val="115000"/>
                        </a:lnSpc>
                        <a:spcAft>
                          <a:spcPts val="800"/>
                        </a:spcAft>
                        <a:buNone/>
                      </a:pPr>
                      <a:r>
                        <a:rPr lang="en-GB" sz="1400" kern="100" dirty="0">
                          <a:effectLst/>
                        </a:rPr>
                        <a:t>Home ownership in relation to insufficient income</a:t>
                      </a:r>
                    </a:p>
                    <a:p>
                      <a:pPr>
                        <a:lnSpc>
                          <a:spcPct val="115000"/>
                        </a:lnSpc>
                        <a:spcAft>
                          <a:spcPts val="800"/>
                        </a:spcAft>
                        <a:buNone/>
                      </a:pPr>
                      <a:r>
                        <a:rPr lang="en-GB" sz="1400" kern="100" dirty="0">
                          <a:effectLst/>
                        </a:rPr>
                        <a:t>Use of solar panels</a:t>
                      </a:r>
                    </a:p>
                    <a:p>
                      <a:pPr>
                        <a:lnSpc>
                          <a:spcPct val="115000"/>
                        </a:lnSpc>
                        <a:spcAft>
                          <a:spcPts val="800"/>
                        </a:spcAft>
                        <a:buNone/>
                      </a:pPr>
                      <a:r>
                        <a:rPr lang="en-GB" sz="1400" kern="100" dirty="0">
                          <a:effectLst/>
                        </a:rPr>
                        <a:t>Share of listed buildings</a:t>
                      </a:r>
                    </a:p>
                    <a:p>
                      <a:pPr>
                        <a:lnSpc>
                          <a:spcPct val="115000"/>
                        </a:lnSpc>
                        <a:spcAft>
                          <a:spcPts val="800"/>
                        </a:spcAft>
                        <a:buNone/>
                      </a:pPr>
                      <a:r>
                        <a:rPr lang="en-GB" sz="1400" kern="100" dirty="0">
                          <a:effectLst/>
                        </a:rPr>
                        <a:t>Renovations of homes Overcrowding</a:t>
                      </a:r>
                    </a:p>
                    <a:p>
                      <a:pPr>
                        <a:lnSpc>
                          <a:spcPct val="115000"/>
                        </a:lnSpc>
                        <a:spcAft>
                          <a:spcPts val="800"/>
                        </a:spcAft>
                        <a:buNone/>
                      </a:pPr>
                      <a:r>
                        <a:rPr lang="en-GB" sz="1400" kern="100" dirty="0">
                          <a:effectLst/>
                        </a:rPr>
                        <a:t>Housing types</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(Public) transport</a:t>
                      </a:r>
                    </a:p>
                    <a:p>
                      <a:pPr>
                        <a:lnSpc>
                          <a:spcPct val="115000"/>
                        </a:lnSpc>
                        <a:spcAft>
                          <a:spcPts val="800"/>
                        </a:spcAft>
                        <a:buNone/>
                      </a:pPr>
                      <a:r>
                        <a:rPr lang="en-GB" sz="1400" kern="100" dirty="0">
                          <a:effectLst/>
                        </a:rPr>
                        <a:t>Shops/retail</a:t>
                      </a:r>
                    </a:p>
                    <a:p>
                      <a:pPr>
                        <a:lnSpc>
                          <a:spcPct val="115000"/>
                        </a:lnSpc>
                        <a:spcAft>
                          <a:spcPts val="800"/>
                        </a:spcAft>
                        <a:buNone/>
                      </a:pPr>
                      <a:r>
                        <a:rPr lang="en-GB" sz="1400" kern="100" dirty="0">
                          <a:effectLst/>
                        </a:rPr>
                        <a:t>Education</a:t>
                      </a:r>
                    </a:p>
                    <a:p>
                      <a:pPr>
                        <a:lnSpc>
                          <a:spcPct val="115000"/>
                        </a:lnSpc>
                        <a:spcAft>
                          <a:spcPts val="800"/>
                        </a:spcAft>
                        <a:buNone/>
                      </a:pPr>
                      <a:r>
                        <a:rPr lang="en-GB" sz="1400" kern="100" dirty="0">
                          <a:effectLst/>
                        </a:rPr>
                        <a:t>Care and support</a:t>
                      </a:r>
                    </a:p>
                    <a:p>
                      <a:pPr>
                        <a:lnSpc>
                          <a:spcPct val="115000"/>
                        </a:lnSpc>
                        <a:spcAft>
                          <a:spcPts val="800"/>
                        </a:spcAft>
                        <a:buNone/>
                      </a:pPr>
                      <a:r>
                        <a:rPr lang="en-GB" sz="1400" kern="100" dirty="0">
                          <a:effectLst/>
                        </a:rPr>
                        <a:t>Hospitality/social gatherings</a:t>
                      </a:r>
                    </a:p>
                    <a:p>
                      <a:pPr>
                        <a:lnSpc>
                          <a:spcPct val="115000"/>
                        </a:lnSpc>
                        <a:spcAft>
                          <a:spcPts val="800"/>
                        </a:spcAft>
                        <a:buNone/>
                      </a:pPr>
                      <a:r>
                        <a:rPr lang="en-GB" sz="1400" kern="100" dirty="0">
                          <a:effectLst/>
                        </a:rPr>
                        <a:t>Leisure, culture, etc.</a:t>
                      </a:r>
                    </a:p>
                    <a:p>
                      <a:pPr>
                        <a:lnSpc>
                          <a:spcPct val="115000"/>
                        </a:lnSpc>
                        <a:spcAft>
                          <a:spcPts val="800"/>
                        </a:spcAft>
                        <a:buNone/>
                      </a:pPr>
                      <a:r>
                        <a:rPr lang="en-GB" sz="1400" kern="100" dirty="0">
                          <a:effectLst/>
                        </a:rPr>
                        <a:t>Sports facilities</a:t>
                      </a:r>
                    </a:p>
                    <a:p>
                      <a:pPr>
                        <a:lnSpc>
                          <a:spcPct val="115000"/>
                        </a:lnSpc>
                        <a:spcAft>
                          <a:spcPts val="800"/>
                        </a:spcAft>
                        <a:buNone/>
                      </a:pPr>
                      <a:r>
                        <a:rPr lang="en-GB" sz="1400" kern="100" dirty="0">
                          <a:effectLst/>
                        </a:rPr>
                        <a:t>Track accessibility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(Diversity by) life stage</a:t>
                      </a:r>
                    </a:p>
                    <a:p>
                      <a:pPr>
                        <a:lnSpc>
                          <a:spcPct val="115000"/>
                        </a:lnSpc>
                        <a:spcAft>
                          <a:spcPts val="800"/>
                        </a:spcAft>
                        <a:buNone/>
                      </a:pPr>
                      <a:r>
                        <a:rPr lang="en-GB" sz="1400" kern="100" dirty="0">
                          <a:effectLst/>
                        </a:rPr>
                        <a:t>Social cohesion</a:t>
                      </a:r>
                    </a:p>
                    <a:p>
                      <a:pPr>
                        <a:lnSpc>
                          <a:spcPct val="115000"/>
                        </a:lnSpc>
                        <a:spcAft>
                          <a:spcPts val="800"/>
                        </a:spcAft>
                        <a:buNone/>
                      </a:pPr>
                      <a:r>
                        <a:rPr lang="en-GB" sz="1400" kern="100" dirty="0">
                          <a:effectLst/>
                        </a:rPr>
                        <a:t>Tuition rate</a:t>
                      </a:r>
                    </a:p>
                    <a:p>
                      <a:pPr>
                        <a:lnSpc>
                          <a:spcPct val="115000"/>
                        </a:lnSpc>
                        <a:spcAft>
                          <a:spcPts val="800"/>
                        </a:spcAft>
                        <a:buNone/>
                      </a:pPr>
                      <a:r>
                        <a:rPr lang="en-GB" sz="1400" kern="100" dirty="0">
                          <a:effectLst/>
                        </a:rPr>
                        <a:t>Population density</a:t>
                      </a:r>
                    </a:p>
                    <a:p>
                      <a:pPr>
                        <a:lnSpc>
                          <a:spcPct val="115000"/>
                        </a:lnSpc>
                        <a:spcAft>
                          <a:spcPts val="800"/>
                        </a:spcAft>
                        <a:buNone/>
                      </a:pPr>
                      <a:r>
                        <a:rPr lang="en-GB" sz="1400" kern="100" dirty="0">
                          <a:effectLst/>
                        </a:rPr>
                        <a:t>Population development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Registered crimes</a:t>
                      </a:r>
                    </a:p>
                    <a:p>
                      <a:pPr>
                        <a:lnSpc>
                          <a:spcPct val="115000"/>
                        </a:lnSpc>
                        <a:spcAft>
                          <a:spcPts val="800"/>
                        </a:spcAft>
                        <a:buNone/>
                      </a:pPr>
                      <a:r>
                        <a:rPr lang="en-GB" sz="1400" kern="100" dirty="0">
                          <a:effectLst/>
                        </a:rPr>
                        <a:t>Perceived safety</a:t>
                      </a:r>
                    </a:p>
                    <a:p>
                      <a:pPr>
                        <a:lnSpc>
                          <a:spcPct val="115000"/>
                        </a:lnSpc>
                        <a:spcAft>
                          <a:spcPts val="800"/>
                        </a:spcAft>
                        <a:buNone/>
                      </a:pPr>
                      <a:r>
                        <a:rPr lang="en-GB" sz="1400" kern="100" dirty="0">
                          <a:effectLst/>
                        </a:rPr>
                        <a:t>Perceived nuisance</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118945"/>
                  </a:ext>
                </a:extLst>
              </a:tr>
            </a:tbl>
          </a:graphicData>
        </a:graphic>
      </p:graphicFrame>
    </p:spTree>
    <p:extLst>
      <p:ext uri="{BB962C8B-B14F-4D97-AF65-F5344CB8AC3E}">
        <p14:creationId xmlns:p14="http://schemas.microsoft.com/office/powerpoint/2010/main" val="4032450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7DB29-D704-7649-E63C-610D8F7CEBAF}"/>
              </a:ext>
            </a:extLst>
          </p:cNvPr>
          <p:cNvSpPr>
            <a:spLocks noGrp="1"/>
          </p:cNvSpPr>
          <p:nvPr>
            <p:ph type="title"/>
          </p:nvPr>
        </p:nvSpPr>
        <p:spPr/>
        <p:txBody>
          <a:bodyPr>
            <a:normAutofit/>
          </a:bodyPr>
          <a:lstStyle/>
          <a:p>
            <a:r>
              <a:rPr lang="en-US" sz="4000" b="1" dirty="0">
                <a:latin typeface="Aptos" panose="020B0004020202020204" pitchFamily="34" charset="0"/>
              </a:rPr>
              <a:t>DATA</a:t>
            </a:r>
            <a:endParaRPr lang="en-NL" sz="4000" dirty="0"/>
          </a:p>
        </p:txBody>
      </p:sp>
      <p:pic>
        <p:nvPicPr>
          <p:cNvPr id="1026" name="Picture 2" descr="Survey Data Netherlands - About">
            <a:extLst>
              <a:ext uri="{FF2B5EF4-FFF2-40B4-BE49-F238E27FC236}">
                <a16:creationId xmlns:a16="http://schemas.microsoft.com/office/drawing/2014/main" id="{912863B4-A454-920F-55D4-E828CD9836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0528" y="1484149"/>
            <a:ext cx="1958068" cy="195806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B0B51224-3C30-98CB-EE9A-B726F75CA57A}"/>
              </a:ext>
            </a:extLst>
          </p:cNvPr>
          <p:cNvPicPr>
            <a:picLocks noChangeAspect="1"/>
          </p:cNvPicPr>
          <p:nvPr/>
        </p:nvPicPr>
        <p:blipFill>
          <a:blip r:embed="rId4"/>
          <a:srcRect l="303" t="19448" r="72747" b="64625"/>
          <a:stretch>
            <a:fillRect/>
          </a:stretch>
        </p:blipFill>
        <p:spPr>
          <a:xfrm>
            <a:off x="2747376" y="1588755"/>
            <a:ext cx="4944730" cy="1643743"/>
          </a:xfrm>
          <a:prstGeom prst="rect">
            <a:avLst/>
          </a:prstGeom>
        </p:spPr>
      </p:pic>
      <p:pic>
        <p:nvPicPr>
          <p:cNvPr id="14" name="Picture 13">
            <a:extLst>
              <a:ext uri="{FF2B5EF4-FFF2-40B4-BE49-F238E27FC236}">
                <a16:creationId xmlns:a16="http://schemas.microsoft.com/office/drawing/2014/main" id="{2E34B0D6-8877-B408-5E8A-A26D9BD3BCDE}"/>
              </a:ext>
            </a:extLst>
          </p:cNvPr>
          <p:cNvPicPr>
            <a:picLocks noChangeAspect="1"/>
          </p:cNvPicPr>
          <p:nvPr/>
        </p:nvPicPr>
        <p:blipFill>
          <a:blip r:embed="rId5"/>
          <a:srcRect l="1840" t="17143" r="75267" b="73175"/>
          <a:stretch>
            <a:fillRect/>
          </a:stretch>
        </p:blipFill>
        <p:spPr>
          <a:xfrm>
            <a:off x="7970761" y="1926339"/>
            <a:ext cx="4071113" cy="968573"/>
          </a:xfrm>
          <a:prstGeom prst="rect">
            <a:avLst/>
          </a:prstGeom>
        </p:spPr>
      </p:pic>
      <p:pic>
        <p:nvPicPr>
          <p:cNvPr id="1038" name="Picture 14" descr="aivd_nl">
            <a:extLst>
              <a:ext uri="{FF2B5EF4-FFF2-40B4-BE49-F238E27FC236}">
                <a16:creationId xmlns:a16="http://schemas.microsoft.com/office/drawing/2014/main" id="{2838B81E-7193-7651-E69A-11326F6CDF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631606" y="5297606"/>
            <a:ext cx="1560394" cy="15603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012E5C2-2847-5AAE-C234-F89179B91853}"/>
              </a:ext>
            </a:extLst>
          </p:cNvPr>
          <p:cNvSpPr txBox="1"/>
          <p:nvPr/>
        </p:nvSpPr>
        <p:spPr>
          <a:xfrm>
            <a:off x="218357" y="3603009"/>
            <a:ext cx="2770503" cy="2308324"/>
          </a:xfrm>
          <a:prstGeom prst="rect">
            <a:avLst/>
          </a:prstGeom>
          <a:noFill/>
        </p:spPr>
        <p:txBody>
          <a:bodyPr wrap="square" rtlCol="0">
            <a:spAutoFit/>
          </a:bodyPr>
          <a:lstStyle/>
          <a:p>
            <a:pPr marL="285750" indent="-285750">
              <a:buFontTx/>
              <a:buChar char="-"/>
            </a:pPr>
            <a:r>
              <a:rPr lang="en-GB" dirty="0"/>
              <a:t>Wave 18 (2025)</a:t>
            </a:r>
          </a:p>
          <a:p>
            <a:pPr marL="285750" indent="-285750">
              <a:buFontTx/>
              <a:buChar char="-"/>
            </a:pPr>
            <a:r>
              <a:rPr lang="en-GB" dirty="0"/>
              <a:t>Core studies:</a:t>
            </a:r>
            <a:br>
              <a:rPr lang="en-GB" dirty="0"/>
            </a:br>
            <a:r>
              <a:rPr lang="en-GB" dirty="0"/>
              <a:t>Social Integration &amp; Leisure</a:t>
            </a:r>
          </a:p>
          <a:p>
            <a:pPr marL="285750" indent="-285750">
              <a:buFontTx/>
              <a:buChar char="-"/>
            </a:pPr>
            <a:r>
              <a:rPr lang="en-GB" dirty="0"/>
              <a:t>Work &amp; School</a:t>
            </a:r>
          </a:p>
          <a:p>
            <a:pPr marL="285750" indent="-285750">
              <a:buFontTx/>
              <a:buChar char="-"/>
            </a:pPr>
            <a:r>
              <a:rPr lang="en-GB" dirty="0"/>
              <a:t>Health</a:t>
            </a:r>
          </a:p>
          <a:p>
            <a:pPr marL="285750" indent="-285750">
              <a:buFontTx/>
              <a:buChar char="-"/>
            </a:pPr>
            <a:r>
              <a:rPr lang="en-GB" dirty="0"/>
              <a:t>Housing</a:t>
            </a:r>
          </a:p>
          <a:p>
            <a:pPr marL="285750" indent="-285750">
              <a:buFontTx/>
              <a:buChar char="-"/>
            </a:pPr>
            <a:endParaRPr lang="en-US" dirty="0"/>
          </a:p>
        </p:txBody>
      </p:sp>
      <p:sp>
        <p:nvSpPr>
          <p:cNvPr id="4" name="TextBox 3">
            <a:extLst>
              <a:ext uri="{FF2B5EF4-FFF2-40B4-BE49-F238E27FC236}">
                <a16:creationId xmlns:a16="http://schemas.microsoft.com/office/drawing/2014/main" id="{6111C955-0398-A29D-1574-D126904912CB}"/>
              </a:ext>
            </a:extLst>
          </p:cNvPr>
          <p:cNvSpPr txBox="1"/>
          <p:nvPr/>
        </p:nvSpPr>
        <p:spPr>
          <a:xfrm>
            <a:off x="3903260" y="3603009"/>
            <a:ext cx="3234519" cy="369332"/>
          </a:xfrm>
          <a:prstGeom prst="rect">
            <a:avLst/>
          </a:prstGeom>
          <a:noFill/>
        </p:spPr>
        <p:txBody>
          <a:bodyPr wrap="square" rtlCol="0">
            <a:spAutoFit/>
          </a:bodyPr>
          <a:lstStyle/>
          <a:p>
            <a:r>
              <a:rPr lang="en-US" dirty="0"/>
              <a:t>Text</a:t>
            </a:r>
          </a:p>
        </p:txBody>
      </p:sp>
      <p:sp>
        <p:nvSpPr>
          <p:cNvPr id="5" name="TextBox 4">
            <a:extLst>
              <a:ext uri="{FF2B5EF4-FFF2-40B4-BE49-F238E27FC236}">
                <a16:creationId xmlns:a16="http://schemas.microsoft.com/office/drawing/2014/main" id="{9C016400-E22F-33A2-C7CE-BE99CD85344B}"/>
              </a:ext>
            </a:extLst>
          </p:cNvPr>
          <p:cNvSpPr txBox="1"/>
          <p:nvPr/>
        </p:nvSpPr>
        <p:spPr>
          <a:xfrm>
            <a:off x="7970761" y="3603009"/>
            <a:ext cx="2770027" cy="369332"/>
          </a:xfrm>
          <a:prstGeom prst="rect">
            <a:avLst/>
          </a:prstGeom>
          <a:noFill/>
        </p:spPr>
        <p:txBody>
          <a:bodyPr wrap="square" rtlCol="0">
            <a:spAutoFit/>
          </a:bodyPr>
          <a:lstStyle/>
          <a:p>
            <a:r>
              <a:rPr lang="en-US" dirty="0" err="1"/>
              <a:t>Firmbackbone</a:t>
            </a:r>
            <a:endParaRPr lang="en-US" dirty="0"/>
          </a:p>
        </p:txBody>
      </p:sp>
    </p:spTree>
    <p:extLst>
      <p:ext uri="{BB962C8B-B14F-4D97-AF65-F5344CB8AC3E}">
        <p14:creationId xmlns:p14="http://schemas.microsoft.com/office/powerpoint/2010/main" val="302896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0AF0E-ED51-D6C7-ED17-990E85214ED5}"/>
              </a:ext>
            </a:extLst>
          </p:cNvPr>
          <p:cNvSpPr>
            <a:spLocks noGrp="1"/>
          </p:cNvSpPr>
          <p:nvPr>
            <p:ph type="title"/>
          </p:nvPr>
        </p:nvSpPr>
        <p:spPr/>
        <p:txBody>
          <a:bodyPr>
            <a:normAutofit/>
          </a:bodyPr>
          <a:lstStyle/>
          <a:p>
            <a:r>
              <a:rPr lang="en-US" sz="4000" b="1" dirty="0">
                <a:latin typeface="Aptos" panose="020B0004020202020204" pitchFamily="34" charset="0"/>
              </a:rPr>
              <a:t>METHODOLOGY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EE745100-CE06-4549-0F6E-0CC8267F6DBC}"/>
              </a:ext>
            </a:extLst>
          </p:cNvPr>
          <p:cNvSpPr>
            <a:spLocks noGrp="1"/>
          </p:cNvSpPr>
          <p:nvPr>
            <p:ph idx="1"/>
          </p:nvPr>
        </p:nvSpPr>
        <p:spPr/>
        <p:txBody>
          <a:bodyPr/>
          <a:lstStyle/>
          <a:p>
            <a:r>
              <a:rPr lang="en-US" dirty="0"/>
              <a:t>METHOD AND APPROACH</a:t>
            </a:r>
            <a:endParaRPr lang="ru-RU" dirty="0"/>
          </a:p>
        </p:txBody>
      </p:sp>
    </p:spTree>
    <p:extLst>
      <p:ext uri="{BB962C8B-B14F-4D97-AF65-F5344CB8AC3E}">
        <p14:creationId xmlns:p14="http://schemas.microsoft.com/office/powerpoint/2010/main" val="12004459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F7281-6E80-CFFF-874F-9F76B107E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90C301-DB0A-A0D8-AE4C-36C9A1FC7AF6}"/>
              </a:ext>
            </a:extLst>
          </p:cNvPr>
          <p:cNvSpPr>
            <a:spLocks noGrp="1"/>
          </p:cNvSpPr>
          <p:nvPr>
            <p:ph type="title"/>
          </p:nvPr>
        </p:nvSpPr>
        <p:spPr/>
        <p:txBody>
          <a:bodyPr>
            <a:normAutofit/>
          </a:bodyPr>
          <a:lstStyle/>
          <a:p>
            <a:r>
              <a:rPr lang="en-US" sz="4000" b="1" dirty="0">
                <a:latin typeface="Aptos" panose="020B0004020202020204" pitchFamily="34" charset="0"/>
              </a:rPr>
              <a:t>METHODOLOGY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9B86305-CFE3-D282-69B1-87E1AFA6AE0D}"/>
              </a:ext>
            </a:extLst>
          </p:cNvPr>
          <p:cNvSpPr>
            <a:spLocks noGrp="1"/>
          </p:cNvSpPr>
          <p:nvPr>
            <p:ph idx="1"/>
          </p:nvPr>
        </p:nvSpPr>
        <p:spPr/>
        <p:txBody>
          <a:bodyPr/>
          <a:lstStyle/>
          <a:p>
            <a:r>
              <a:rPr lang="en-US" dirty="0"/>
              <a:t>METHOD AND APPROACH</a:t>
            </a:r>
            <a:endParaRPr lang="ru-RU" dirty="0"/>
          </a:p>
        </p:txBody>
      </p:sp>
    </p:spTree>
    <p:extLst>
      <p:ext uri="{BB962C8B-B14F-4D97-AF65-F5344CB8AC3E}">
        <p14:creationId xmlns:p14="http://schemas.microsoft.com/office/powerpoint/2010/main" val="37781315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7DF4A-6793-0A82-6A54-8C85064ED0FD}"/>
              </a:ext>
            </a:extLst>
          </p:cNvPr>
          <p:cNvSpPr>
            <a:spLocks noGrp="1"/>
          </p:cNvSpPr>
          <p:nvPr>
            <p:ph type="title"/>
          </p:nvPr>
        </p:nvSpPr>
        <p:spPr/>
        <p:txBody>
          <a:bodyPr>
            <a:normAutofit/>
          </a:bodyPr>
          <a:lstStyle/>
          <a:p>
            <a:r>
              <a:rPr lang="en-US" sz="4000" b="1" dirty="0">
                <a:latin typeface="Aptos" panose="020B0004020202020204" pitchFamily="34" charset="0"/>
              </a:rPr>
              <a:t>RESULTS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7AC6F1B-C3BD-3A07-79D7-89F1A5E47B98}"/>
              </a:ext>
            </a:extLst>
          </p:cNvPr>
          <p:cNvSpPr>
            <a:spLocks noGrp="1"/>
          </p:cNvSpPr>
          <p:nvPr>
            <p:ph idx="1"/>
          </p:nvPr>
        </p:nvSpPr>
        <p:spPr/>
        <p:txBody>
          <a:bodyPr/>
          <a:lstStyle/>
          <a:p>
            <a:r>
              <a:rPr lang="en-US" dirty="0"/>
              <a:t>OVERVIEW OF RESULTS</a:t>
            </a:r>
          </a:p>
          <a:p>
            <a:r>
              <a:rPr lang="en-US" dirty="0"/>
              <a:t>VISUALIZATIONS</a:t>
            </a:r>
          </a:p>
          <a:p>
            <a:r>
              <a:rPr lang="en-US" dirty="0"/>
              <a:t>REMARKS</a:t>
            </a:r>
            <a:endParaRPr lang="en-NL" dirty="0"/>
          </a:p>
        </p:txBody>
      </p:sp>
    </p:spTree>
    <p:extLst>
      <p:ext uri="{BB962C8B-B14F-4D97-AF65-F5344CB8AC3E}">
        <p14:creationId xmlns:p14="http://schemas.microsoft.com/office/powerpoint/2010/main" val="2823057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B0EC5-B0F0-FCC9-17F0-3AB7C1532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9A363-D7DB-6BE4-0009-CC686FBA65FF}"/>
              </a:ext>
            </a:extLst>
          </p:cNvPr>
          <p:cNvSpPr>
            <a:spLocks noGrp="1"/>
          </p:cNvSpPr>
          <p:nvPr>
            <p:ph type="title"/>
          </p:nvPr>
        </p:nvSpPr>
        <p:spPr/>
        <p:txBody>
          <a:bodyPr>
            <a:normAutofit/>
          </a:bodyPr>
          <a:lstStyle/>
          <a:p>
            <a:r>
              <a:rPr lang="en-US" sz="4000" b="1" dirty="0">
                <a:latin typeface="Aptos" panose="020B0004020202020204" pitchFamily="34" charset="0"/>
              </a:rPr>
              <a:t>DISCUSSION: Findings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391B391-3948-A474-3013-11139B938FBF}"/>
              </a:ext>
            </a:extLst>
          </p:cNvPr>
          <p:cNvSpPr>
            <a:spLocks noGrp="1"/>
          </p:cNvSpPr>
          <p:nvPr>
            <p:ph idx="1"/>
          </p:nvPr>
        </p:nvSpPr>
        <p:spPr/>
        <p:txBody>
          <a:bodyPr/>
          <a:lstStyle/>
          <a:p>
            <a:endParaRPr lang="en-US" dirty="0"/>
          </a:p>
          <a:p>
            <a:endParaRPr lang="en-NL" dirty="0"/>
          </a:p>
        </p:txBody>
      </p:sp>
    </p:spTree>
    <p:extLst>
      <p:ext uri="{BB962C8B-B14F-4D97-AF65-F5344CB8AC3E}">
        <p14:creationId xmlns:p14="http://schemas.microsoft.com/office/powerpoint/2010/main" val="2101214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FDBAE-1EFF-E4E1-2009-6131436A87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FE8AF-6600-55A1-C616-6283C73A98A5}"/>
              </a:ext>
            </a:extLst>
          </p:cNvPr>
          <p:cNvSpPr>
            <a:spLocks noGrp="1"/>
          </p:cNvSpPr>
          <p:nvPr>
            <p:ph type="title"/>
          </p:nvPr>
        </p:nvSpPr>
        <p:spPr/>
        <p:txBody>
          <a:bodyPr>
            <a:normAutofit/>
          </a:bodyPr>
          <a:lstStyle/>
          <a:p>
            <a:r>
              <a:rPr lang="en-US" sz="4000" b="1" dirty="0">
                <a:latin typeface="Aptos" panose="020B0004020202020204" pitchFamily="34" charset="0"/>
              </a:rPr>
              <a:t>DISCUSSION: Limitations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21490BC7-1771-452A-8BD5-AFEAB98D7F87}"/>
              </a:ext>
            </a:extLst>
          </p:cNvPr>
          <p:cNvSpPr>
            <a:spLocks noGrp="1"/>
          </p:cNvSpPr>
          <p:nvPr>
            <p:ph idx="1"/>
          </p:nvPr>
        </p:nvSpPr>
        <p:spPr/>
        <p:txBody>
          <a:bodyPr>
            <a:normAutofit/>
          </a:bodyPr>
          <a:lstStyle/>
          <a:p>
            <a:r>
              <a:rPr lang="en-GB" dirty="0"/>
              <a:t>Limited to available variables in admin data</a:t>
            </a:r>
          </a:p>
          <a:p>
            <a:r>
              <a:rPr lang="en-GB" dirty="0"/>
              <a:t>Smaller sample size in LISS, especially when aggregating per PS4 (often less than 10 people per neighbourhood)</a:t>
            </a:r>
          </a:p>
          <a:p>
            <a:r>
              <a:rPr lang="en-GB" dirty="0"/>
              <a:t>Approximating measures for livability dimensions based on our own interpretation due to lack of metadata documentation for livability score</a:t>
            </a:r>
            <a:endParaRPr lang="en-US" dirty="0"/>
          </a:p>
          <a:p>
            <a:pPr marL="0" indent="0">
              <a:buNone/>
            </a:pPr>
            <a:r>
              <a:rPr lang="en-US" dirty="0">
                <a:sym typeface="Wingdings" pitchFamily="2" charset="2"/>
              </a:rPr>
              <a:t> </a:t>
            </a:r>
            <a:endParaRPr lang="en-US" dirty="0"/>
          </a:p>
          <a:p>
            <a:endParaRPr lang="en-NL" dirty="0"/>
          </a:p>
        </p:txBody>
      </p:sp>
    </p:spTree>
    <p:extLst>
      <p:ext uri="{BB962C8B-B14F-4D97-AF65-F5344CB8AC3E}">
        <p14:creationId xmlns:p14="http://schemas.microsoft.com/office/powerpoint/2010/main" val="23052666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CB3A-E61B-8EF9-D00B-3E6E949FE9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8DD16D-56EC-3AB6-50B7-F29D312ACDAE}"/>
              </a:ext>
            </a:extLst>
          </p:cNvPr>
          <p:cNvSpPr>
            <a:spLocks noGrp="1"/>
          </p:cNvSpPr>
          <p:nvPr>
            <p:ph type="title"/>
          </p:nvPr>
        </p:nvSpPr>
        <p:spPr/>
        <p:txBody>
          <a:bodyPr>
            <a:normAutofit/>
          </a:bodyPr>
          <a:lstStyle/>
          <a:p>
            <a:r>
              <a:rPr lang="en-US" sz="4000" b="1" dirty="0">
                <a:latin typeface="Aptos" panose="020B0004020202020204" pitchFamily="34" charset="0"/>
              </a:rPr>
              <a:t>DISCUSSION: Future work</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7549A113-3E64-19D2-7CA4-DFC57AC685DC}"/>
              </a:ext>
            </a:extLst>
          </p:cNvPr>
          <p:cNvSpPr>
            <a:spLocks noGrp="1"/>
          </p:cNvSpPr>
          <p:nvPr>
            <p:ph idx="1"/>
          </p:nvPr>
        </p:nvSpPr>
        <p:spPr/>
        <p:txBody>
          <a:bodyPr/>
          <a:lstStyle/>
          <a:p>
            <a:pPr marL="0" indent="0">
              <a:buNone/>
            </a:pPr>
            <a:endParaRPr lang="en-US" dirty="0"/>
          </a:p>
        </p:txBody>
      </p:sp>
    </p:spTree>
    <p:extLst>
      <p:ext uri="{BB962C8B-B14F-4D97-AF65-F5344CB8AC3E}">
        <p14:creationId xmlns:p14="http://schemas.microsoft.com/office/powerpoint/2010/main" val="27948406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362F7-CF35-3AA5-265D-09DB96971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693B76-BE7F-CAEA-FFEB-3AE50DC27F05}"/>
              </a:ext>
            </a:extLst>
          </p:cNvPr>
          <p:cNvSpPr>
            <a:spLocks noGrp="1"/>
          </p:cNvSpPr>
          <p:nvPr>
            <p:ph type="title"/>
          </p:nvPr>
        </p:nvSpPr>
        <p:spPr/>
        <p:txBody>
          <a:bodyPr>
            <a:normAutofit/>
          </a:bodyPr>
          <a:lstStyle/>
          <a:p>
            <a:r>
              <a:rPr lang="en-GB" sz="4000" b="1" dirty="0">
                <a:latin typeface="Aptos" panose="020B0004020202020204" pitchFamily="34" charset="0"/>
              </a:rPr>
              <a:t>REFERENCES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5C2AB93C-1F68-C213-AE5F-0DC29232475D}"/>
              </a:ext>
            </a:extLst>
          </p:cNvPr>
          <p:cNvSpPr>
            <a:spLocks noGrp="1"/>
          </p:cNvSpPr>
          <p:nvPr>
            <p:ph idx="1"/>
          </p:nvPr>
        </p:nvSpPr>
        <p:spPr>
          <a:xfrm>
            <a:off x="838200" y="1402544"/>
            <a:ext cx="10515600" cy="4302219"/>
          </a:xfrm>
        </p:spPr>
        <p:txBody>
          <a:bodyPr>
            <a:normAutofit/>
          </a:bodyPr>
          <a:lstStyle/>
          <a:p>
            <a:pPr marL="0" indent="0">
              <a:buNone/>
            </a:pPr>
            <a:r>
              <a:rPr lang="en-GB" sz="2000" dirty="0"/>
              <a:t>CBS, </a:t>
            </a:r>
            <a:r>
              <a:rPr lang="en-GB" sz="2000" dirty="0" err="1"/>
              <a:t>Centraal</a:t>
            </a:r>
            <a:r>
              <a:rPr lang="en-GB" sz="2000" dirty="0"/>
              <a:t> Bureau </a:t>
            </a:r>
            <a:r>
              <a:rPr lang="en-GB" sz="2000" dirty="0" err="1"/>
              <a:t>voor</a:t>
            </a:r>
            <a:r>
              <a:rPr lang="en-GB" sz="2000" dirty="0"/>
              <a:t> de </a:t>
            </a:r>
            <a:r>
              <a:rPr lang="en-GB" sz="2000" dirty="0" err="1"/>
              <a:t>Statistiek</a:t>
            </a:r>
            <a:r>
              <a:rPr lang="en-GB" sz="2000" dirty="0"/>
              <a:t>. (2026). Fewer young people entering the housing market. </a:t>
            </a:r>
            <a:r>
              <a:rPr lang="en-GB" sz="2000" dirty="0">
                <a:hlinkClick r:id="rId2"/>
              </a:rPr>
              <a:t>https://www.cbs.nl/en-gb/news/2026/17/fewer-young-people-entering-the-housing-market</a:t>
            </a:r>
            <a:r>
              <a:rPr lang="en-GB" sz="2000" dirty="0"/>
              <a:t> </a:t>
            </a:r>
          </a:p>
          <a:p>
            <a:pPr marL="0" indent="0">
              <a:buNone/>
            </a:pPr>
            <a:r>
              <a:rPr lang="en-GB" sz="2000" dirty="0"/>
              <a:t>Kaal, H. (2011). A conceptual history of livability: Dutch scientists, politicians, policy makers and citizens and the quest for a </a:t>
            </a:r>
            <a:r>
              <a:rPr lang="en-GB" sz="2000" dirty="0" err="1"/>
              <a:t>livable</a:t>
            </a:r>
            <a:r>
              <a:rPr lang="en-GB" sz="2000" dirty="0"/>
              <a:t> city. City, 15(5), 532–547. https://</a:t>
            </a:r>
            <a:r>
              <a:rPr lang="en-GB" sz="2000" dirty="0" err="1"/>
              <a:t>doi.org</a:t>
            </a:r>
            <a:r>
              <a:rPr lang="en-GB" sz="2000" dirty="0"/>
              <a:t>/10.1080/13604813.2011.595094</a:t>
            </a:r>
          </a:p>
          <a:p>
            <a:pPr marL="0" indent="0">
              <a:buNone/>
            </a:pPr>
            <a:r>
              <a:rPr lang="en-GB" sz="2000" dirty="0"/>
              <a:t>Lennartz, C., Baarsma, B., &amp; </a:t>
            </a:r>
            <a:r>
              <a:rPr lang="en-GB" sz="2000" dirty="0" err="1"/>
              <a:t>Vrieselaar</a:t>
            </a:r>
            <a:r>
              <a:rPr lang="en-GB" sz="2000" dirty="0"/>
              <a:t>, N. (2019). Exploding house prices in urban housing markets: Explanations and policy solutions for the Netherlands. In </a:t>
            </a:r>
            <a:r>
              <a:rPr lang="en-GB" sz="2000" i="1" dirty="0"/>
              <a:t>Hot property: The housing market in major cities</a:t>
            </a:r>
            <a:r>
              <a:rPr lang="en-GB" sz="2000" dirty="0"/>
              <a:t> (pp. 207-221). Cham: Springer International Publishing.</a:t>
            </a:r>
          </a:p>
          <a:p>
            <a:pPr marL="0" indent="0">
              <a:buNone/>
            </a:pPr>
            <a:r>
              <a:rPr lang="en-GB" sz="2000" dirty="0" err="1"/>
              <a:t>Mandemakers</a:t>
            </a:r>
            <a:r>
              <a:rPr lang="en-GB" sz="2000" dirty="0"/>
              <a:t>, J., </a:t>
            </a:r>
            <a:r>
              <a:rPr lang="en-GB" sz="2000" dirty="0" err="1"/>
              <a:t>Leidelmeijer</a:t>
            </a:r>
            <a:r>
              <a:rPr lang="en-GB" sz="2000" dirty="0"/>
              <a:t>, K., </a:t>
            </a:r>
            <a:r>
              <a:rPr lang="en-GB" sz="2000" dirty="0" err="1"/>
              <a:t>Burema</a:t>
            </a:r>
            <a:r>
              <a:rPr lang="en-GB" sz="2000" dirty="0"/>
              <a:t>, F., Halbersma, R., </a:t>
            </a:r>
            <a:r>
              <a:rPr lang="en-GB" sz="2000" dirty="0" err="1"/>
              <a:t>Middeldorp</a:t>
            </a:r>
            <a:r>
              <a:rPr lang="en-GB" sz="2000" dirty="0"/>
              <a:t>, M. &amp; Veldkamp, J. (2021). </a:t>
            </a:r>
            <a:r>
              <a:rPr lang="en-GB" sz="2000" dirty="0" err="1"/>
              <a:t>Leefbaarometer</a:t>
            </a:r>
            <a:r>
              <a:rPr lang="en-GB" sz="2000" dirty="0"/>
              <a:t> 3.0 </a:t>
            </a:r>
            <a:r>
              <a:rPr lang="en-GB" sz="2000" dirty="0" err="1"/>
              <a:t>Instrumentontwikkeling</a:t>
            </a:r>
            <a:r>
              <a:rPr lang="en-GB" sz="2000" dirty="0"/>
              <a:t>. </a:t>
            </a:r>
            <a:r>
              <a:rPr lang="en-US" sz="2000" dirty="0">
                <a:hlinkClick r:id="rId3"/>
              </a:rPr>
              <a:t>https://www.leefbaarometer.nl/resources/LBM3Instrumentontwikkeling.pdf</a:t>
            </a:r>
            <a:r>
              <a:rPr lang="en-US" sz="2000" dirty="0"/>
              <a:t>  </a:t>
            </a:r>
          </a:p>
          <a:p>
            <a:pPr marL="0" indent="0">
              <a:buNone/>
            </a:pPr>
            <a:endParaRPr lang="en-NL" sz="2000" dirty="0"/>
          </a:p>
        </p:txBody>
      </p:sp>
    </p:spTree>
    <p:extLst>
      <p:ext uri="{BB962C8B-B14F-4D97-AF65-F5344CB8AC3E}">
        <p14:creationId xmlns:p14="http://schemas.microsoft.com/office/powerpoint/2010/main" val="3829100217"/>
      </p:ext>
    </p:extLst>
  </p:cSld>
  <p:clrMapOvr>
    <a:masterClrMapping/>
  </p:clrMapOvr>
</p:sld>
</file>

<file path=ppt/theme/theme1.xml><?xml version="1.0" encoding="utf-8"?>
<a:theme xmlns:a="http://schemas.openxmlformats.org/drawingml/2006/main" name="ShapesVTI">
  <a:themeElements>
    <a:clrScheme name="Office">
      <a:dk1>
        <a:srgbClr val="000000"/>
      </a:dk1>
      <a:lt1>
        <a:srgbClr val="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estival">
      <a:majorFont>
        <a:latin typeface="Century Gothic"/>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hapesVTI" id="{C78D20FD-A872-4243-8597-B534C62538FF}" vid="{7CAFCCF9-7834-41D6-B6AB-7D225A18A4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565</TotalTime>
  <Words>826</Words>
  <Application>Microsoft Macintosh PowerPoint</Application>
  <PresentationFormat>Widescreen</PresentationFormat>
  <Paragraphs>145</Paragraphs>
  <Slides>16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Arial</vt:lpstr>
      <vt:lpstr>Calibri</vt:lpstr>
      <vt:lpstr>Century Gothic</vt:lpstr>
      <vt:lpstr>Wingdings</vt:lpstr>
      <vt:lpstr>ShapesVTI</vt:lpstr>
      <vt:lpstr>LIVING</vt:lpstr>
      <vt:lpstr>CONTENTS</vt:lpstr>
      <vt:lpstr>WHAT IS LIVABILITY SCORE</vt:lpstr>
      <vt:lpstr>BACKGROUND LITERATURE</vt:lpstr>
      <vt:lpstr>RESEARCH AIM &amp; OBJECTIVES</vt:lpstr>
      <vt:lpstr>RESEARCH QUESTIONS</vt:lpstr>
      <vt:lpstr>LIVABILITY SCORE</vt:lpstr>
      <vt:lpstr>PowerPoint Presentation</vt:lpstr>
      <vt:lpstr>DATA</vt:lpstr>
      <vt:lpstr>METHODOLOGY</vt:lpstr>
      <vt:lpstr>METHODOLOGY</vt:lpstr>
      <vt:lpstr>RESULTS</vt:lpstr>
      <vt:lpstr>DISCUSSION: Findings</vt:lpstr>
      <vt:lpstr>DISCUSSION: Limitations</vt:lpstr>
      <vt:lpstr>DISCUSSION: Future work</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Ilaria Lunardelli</dc:creator>
  <cp:lastModifiedBy>Tomiris Gilazh - Bristol</cp:lastModifiedBy>
  <cp:revision>5</cp:revision>
  <dcterms:created xsi:type="dcterms:W3CDTF">2026-06-16T13:02:02Z</dcterms:created>
  <dcterms:modified xsi:type="dcterms:W3CDTF">2026-06-18T12:50:33Z</dcterms:modified>
</cp:coreProperties>
</file>