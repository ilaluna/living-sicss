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1"/>
  </p:sldMasterIdLst>
  <p:notesMasterIdLst>
    <p:notesMasterId r:id="rId10"/>
  </p:notes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6"/>
  </p:normalViewPr>
  <p:slideViewPr>
    <p:cSldViewPr snapToGrid="0">
      <p:cViewPr varScale="1">
        <p:scale>
          <a:sx n="114" d="100"/>
          <a:sy n="114" d="100"/>
        </p:scale>
        <p:origin x="6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1C51D-D7C2-44A5-85D3-69E93A6C6FFA}" type="datetimeFigureOut">
              <a:rPr lang="en-NL" smtClean="0"/>
              <a:t>6/18/26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9B7CD5-E554-4EF4-BDFC-2343191D4CF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8584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9B7CD5-E554-4EF4-BDFC-2343191D4CFE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23875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1A06-8754-4870-9E44-E39BADAD9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27F020-BBC3-49BB-91C2-5B2CBD64B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C0C22-EBDA-4130-87AE-CB28BC19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419A8-07CA-4A4C-AEC2-C40D4D50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A7B86-E610-42EA-B4DC-C2F44778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A7BA06D-B3FF-4E91-8639-B4569AE3AA23}"/>
              </a:ext>
            </a:extLst>
          </p:cNvPr>
          <p:cNvSpPr/>
          <p:nvPr/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B30C86D-5A07-48BC-9C9D-6F9A2DB1E9E1}"/>
              </a:ext>
            </a:extLst>
          </p:cNvPr>
          <p:cNvSpPr/>
          <p:nvPr/>
        </p:nvSpPr>
        <p:spPr>
          <a:xfrm rot="10800000" flipV="1">
            <a:off x="555710" y="106482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391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3DA7759-3209-4FE2-96D1-4EEDD81E9EA0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1460DAD-8769-4C9F-9C8C-BB0443909D76}"/>
              </a:ext>
            </a:extLst>
          </p:cNvPr>
          <p:cNvSpPr/>
          <p:nvPr/>
        </p:nvSpPr>
        <p:spPr>
          <a:xfrm flipH="1">
            <a:off x="123536" y="5717905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3380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0001-5D76-45A0-A9F4-7172BDDD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462C4-0E4B-4DB7-A8BF-FE551427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5F313-1240-47AE-A026-7F349292B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8158-6132-4335-B8E1-F6A896383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4C5B6-1598-48B4-9B3A-3078FDBE9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EDBDD32-D3EE-4848-A112-BA814D4631CD}"/>
              </a:ext>
            </a:extLst>
          </p:cNvPr>
          <p:cNvSpPr/>
          <p:nvPr/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1350361-843C-49D0-BD6A-ECDBA3842BA0}"/>
              </a:ext>
            </a:extLst>
          </p:cNvPr>
          <p:cNvSpPr/>
          <p:nvPr/>
        </p:nvSpPr>
        <p:spPr>
          <a:xfrm rot="10800000" flipV="1">
            <a:off x="555710" y="106482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28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BFD05-2CB2-4A7E-89E7-57615BA82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532B8-D460-476D-816F-725E8D96C0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F7120F-70AF-4ED5-B364-3AA55C6B4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8B65F-F709-469F-9961-4D01896C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C6BC-B23D-48BC-AD44-654DDB8D0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0D60B-86A1-479D-BCE8-06D2C3DB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EC5136-99DA-40B5-8F79-5C3A56D38BA1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F8FB775-26C4-41BA-837C-4478D48D2157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9594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983E-E761-4429-9203-7FE8B2DB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1E9B7-62BE-49BA-AC6B-55250D662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1A3FD-B90A-4C31-BD6B-581F9E2E0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D1D55-B722-4968-B171-AF3B462DD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085A8-02C2-4E7F-935E-5AEECBAD1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8A5018-8A77-40E8-B159-4894ECF2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D79441-8908-4461-9FDD-BCE638837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29F7D-B101-4950-A2C0-F350FB26D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62D7398-9A79-4B24-9C7D-F0DEED57C70B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07F28CD-1873-4E36-A064-2D25E0A85017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2823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C13EF9C-0B5A-4364-91AA-E5DD5B536E54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F674475-6327-490A-BD7F-084F5C07F2E4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649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024287-C9B9-48AC-8E4D-A282DE2F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4C9A2-75A7-4164-B3B8-E6A9D60B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73CE-2859-4D49-A9EC-26AF3FBD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A5ED585-FEBB-4DAD-84C0-97BEE6C360C3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F6AC352-A720-4DB3-87CA-A33B0607CA2F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1669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FC812-4DB6-4F98-9404-29C191D3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0855E-0CD6-47DD-B648-4C84C783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0082B-17D7-4D61-8AEB-81517D85D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70783-FF31-4C4E-9196-EB169B209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2E260-747D-40FD-A062-9DD5E6835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E50A0-1E05-49C5-88C9-46267751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C155C63-9F58-4422-B669-F97486280671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85DBA62-0EDB-47AA-86C7-90463BC9B308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6609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D7521-E43D-41D1-B458-26B20DC6D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72CF2-2653-4B98-A416-D7A0A860EC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F87F5-0B10-4AC7-9599-F088C5E796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07CB7-0520-4D64-B76C-C31AC557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EEB226-AD45-45DF-AAB5-5513AE732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96AEB-9481-4CCE-B110-FEDD3348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BA9707F-7BCE-464F-BF45-E216527084EE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C589723-2CC8-49D1-B4E1-36FECED6A2D7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700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6E5D1-6D19-4E7F-9B4E-42326B77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D2A06C-F91A-4ADC-9CD2-61F0A4D7E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AA9A-2280-4F63-8B3D-20742AE6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D986B-E58E-43B6-8A80-FFA9D8F74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40D36-2E71-4F27-967F-7A3E4C6EE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1609904-5327-4D2C-A445-B270A00F3B5F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FC7BEC-08C5-4D95-9C84-B48BC8AD1C94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4214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1FEA3D-0C7F-45CD-B6A0-942F707B3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8B8A12-BCE6-4D03-A637-1DEC8924B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9755-9FF4-428A-AEB7-1A6477466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41836-11E2-49FD-877D-53B74514A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24C42-4B05-4EEF-BE14-29041EC9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BADDEB1-F604-408B-B02A-A2814606E6AF}"/>
              </a:ext>
            </a:extLst>
          </p:cNvPr>
          <p:cNvSpPr/>
          <p:nvPr/>
        </p:nvSpPr>
        <p:spPr>
          <a:xfrm rot="16200000">
            <a:off x="-388933" y="4841194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F7987-332F-4D6C-81C3-990F39C76C96}"/>
              </a:ext>
            </a:extLst>
          </p:cNvPr>
          <p:cNvSpPr/>
          <p:nvPr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3874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EC5685-19F1-49DA-ADE5-D5D32F16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C0A4D-22A1-4554-B5DE-887974F4D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D5CDC-F2CE-410E-AD13-DDC235C71C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82EDB8D0-98ED-4B86-9D5F-E61ADC70144D}" type="datetimeFigureOut">
              <a:rPr lang="en-US" smtClean="0"/>
              <a:pPr/>
              <a:t>6/18/26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0CD45-794A-4BB0-A427-0CE61AEAF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3AB91-9588-4071-92D2-364F4A6ED0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854181D-6920-4594-9A5D-6CE56DC9F8B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71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28" r:id="rId5"/>
    <p:sldLayoutId id="2147483733" r:id="rId6"/>
    <p:sldLayoutId id="2147483729" r:id="rId7"/>
    <p:sldLayoutId id="2147483730" r:id="rId8"/>
    <p:sldLayoutId id="2147483731" r:id="rId9"/>
    <p:sldLayoutId id="2147483732" r:id="rId10"/>
    <p:sldLayoutId id="214748373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1D7EC86-7CB9-431D-8AC3-8AAF0440B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4B9777F-B610-419B-9193-80306388F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!!Arc">
            <a:extLst>
              <a:ext uri="{FF2B5EF4-FFF2-40B4-BE49-F238E27FC236}">
                <a16:creationId xmlns:a16="http://schemas.microsoft.com/office/drawing/2014/main" id="{311F016A-A753-449B-9EA6-322199B71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427715">
            <a:off x="1108520" y="775849"/>
            <a:ext cx="2987899" cy="2987899"/>
          </a:xfrm>
          <a:prstGeom prst="arc">
            <a:avLst>
              <a:gd name="adj1" fmla="val 16200000"/>
              <a:gd name="adj2" fmla="val 2287352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261A4F-1346-A6DD-D4C8-26086A3E5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742" y="1124988"/>
            <a:ext cx="442596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b="1" kern="1200" dirty="0">
                <a:solidFill>
                  <a:schemeClr val="tx1"/>
                </a:solidFill>
                <a:latin typeface="Aptos" panose="020B0004020202020204" pitchFamily="34" charset="0"/>
              </a:rPr>
              <a:t>LIVING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217CD0-BD87-485E-BAC3-77CFE8A21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742" y="3633691"/>
            <a:ext cx="4788944" cy="1655762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800" kern="1200" dirty="0">
                <a:solidFill>
                  <a:schemeClr val="tx1"/>
                </a:solidFill>
                <a:latin typeface="Aptos" panose="020B0004020202020204" pitchFamily="34" charset="0"/>
              </a:rPr>
              <a:t>Livability maps and prediction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B8CC1-AF07-597B-A93F-0ADAAE57C7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11" r="752" b="-1"/>
          <a:stretch>
            <a:fillRect/>
          </a:stretch>
        </p:blipFill>
        <p:spPr>
          <a:xfrm>
            <a:off x="5733768" y="-1"/>
            <a:ext cx="6458232" cy="6858001"/>
          </a:xfrm>
          <a:custGeom>
            <a:avLst/>
            <a:gdLst/>
            <a:ahLst/>
            <a:cxnLst/>
            <a:rect l="l" t="t" r="r" b="b"/>
            <a:pathLst>
              <a:path w="6458232" h="6858001">
                <a:moveTo>
                  <a:pt x="2209000" y="0"/>
                </a:moveTo>
                <a:lnTo>
                  <a:pt x="6458232" y="0"/>
                </a:lnTo>
                <a:lnTo>
                  <a:pt x="6458232" y="6858001"/>
                </a:lnTo>
                <a:lnTo>
                  <a:pt x="651045" y="6858001"/>
                </a:lnTo>
                <a:lnTo>
                  <a:pt x="635146" y="6830200"/>
                </a:lnTo>
                <a:cubicBezTo>
                  <a:pt x="230085" y="6080469"/>
                  <a:pt x="0" y="5221296"/>
                  <a:pt x="0" y="4308089"/>
                </a:cubicBezTo>
                <a:cubicBezTo>
                  <a:pt x="0" y="2572997"/>
                  <a:pt x="830606" y="1032965"/>
                  <a:pt x="2113832" y="68046"/>
                </a:cubicBezTo>
                <a:close/>
              </a:path>
            </a:pathLst>
          </a:custGeom>
        </p:spPr>
      </p:pic>
      <p:sp>
        <p:nvSpPr>
          <p:cNvPr id="16" name="!!Rectangle">
            <a:extLst>
              <a:ext uri="{FF2B5EF4-FFF2-40B4-BE49-F238E27FC236}">
                <a16:creationId xmlns:a16="http://schemas.microsoft.com/office/drawing/2014/main" id="{95106A28-883A-4993-BF9E-C403B81A8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94269" y="4274457"/>
            <a:ext cx="825256" cy="825256"/>
          </a:xfrm>
          <a:prstGeom prst="rect">
            <a:avLst/>
          </a:prstGeom>
          <a:noFill/>
          <a:ln w="127000">
            <a:solidFill>
              <a:schemeClr val="accent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Oval">
            <a:extLst>
              <a:ext uri="{FF2B5EF4-FFF2-40B4-BE49-F238E27FC236}">
                <a16:creationId xmlns:a16="http://schemas.microsoft.com/office/drawing/2014/main" id="{F5AE4E4F-9F4C-43ED-8299-9BD63B74E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742" y="5649686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DD6139A-D06B-4356-A5D6-9B88DA7FAB9E}"/>
              </a:ext>
            </a:extLst>
          </p:cNvPr>
          <p:cNvSpPr txBox="1">
            <a:spLocks/>
          </p:cNvSpPr>
          <p:nvPr/>
        </p:nvSpPr>
        <p:spPr>
          <a:xfrm>
            <a:off x="1524000" y="5158631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NL" sz="2000" dirty="0">
                <a:latin typeface="Aptos" panose="020B0004020202020204" pitchFamily="34" charset="0"/>
              </a:rPr>
              <a:t>Tomiris </a:t>
            </a:r>
            <a:r>
              <a:rPr lang="en-NL" sz="2000" dirty="0" err="1">
                <a:latin typeface="Aptos" panose="020B0004020202020204" pitchFamily="34" charset="0"/>
              </a:rPr>
              <a:t>Gilazh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r>
              <a:rPr lang="en-NL" sz="2000" dirty="0">
                <a:latin typeface="Aptos" panose="020B0004020202020204" pitchFamily="34" charset="0"/>
              </a:rPr>
              <a:t>David </a:t>
            </a:r>
            <a:r>
              <a:rPr lang="en-NL" sz="2000" dirty="0" err="1">
                <a:latin typeface="Aptos" panose="020B0004020202020204" pitchFamily="34" charset="0"/>
              </a:rPr>
              <a:t>Leitritz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r>
              <a:rPr lang="en-NL" sz="2000" dirty="0">
                <a:latin typeface="Aptos" panose="020B0004020202020204" pitchFamily="34" charset="0"/>
              </a:rPr>
              <a:t>Ilaria Francesca Lunardelli</a:t>
            </a:r>
          </a:p>
        </p:txBody>
      </p:sp>
    </p:spTree>
    <p:extLst>
      <p:ext uri="{BB962C8B-B14F-4D97-AF65-F5344CB8AC3E}">
        <p14:creationId xmlns:p14="http://schemas.microsoft.com/office/powerpoint/2010/main" val="208587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C1B1B-F4CC-70BF-BFB0-34192FEE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BACKGROUND LITERATURE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4BB4C-2FD9-D6E0-8F1E-ADD0CDCD6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err="1"/>
              <a:t>Livability</a:t>
            </a:r>
            <a:r>
              <a:rPr lang="en-GB" dirty="0"/>
              <a:t> score</a:t>
            </a:r>
            <a:br>
              <a:rPr lang="en-GB" dirty="0"/>
            </a:br>
            <a:r>
              <a:rPr lang="en-GB" dirty="0"/>
              <a:t>– definition</a:t>
            </a:r>
            <a:br>
              <a:rPr lang="en-GB" dirty="0"/>
            </a:br>
            <a:r>
              <a:rPr lang="en-GB" dirty="0"/>
              <a:t>- what is based on</a:t>
            </a:r>
            <a:br>
              <a:rPr lang="en-GB" dirty="0"/>
            </a:br>
            <a:r>
              <a:rPr lang="en-GB" dirty="0"/>
              <a:t>- limitations - lack of transparency in the documentation? Reliance on regulations and few variables that account for people’s actual experiences</a:t>
            </a:r>
          </a:p>
          <a:p>
            <a:r>
              <a:rPr lang="en-GB" dirty="0"/>
              <a:t>Changing conceptions of what </a:t>
            </a:r>
            <a:r>
              <a:rPr lang="en-GB" dirty="0" err="1"/>
              <a:t>livability</a:t>
            </a:r>
            <a:r>
              <a:rPr lang="en-GB" dirty="0"/>
              <a:t> means in the Netherlands</a:t>
            </a:r>
          </a:p>
          <a:p>
            <a:r>
              <a:rPr lang="en-GB" dirty="0"/>
              <a:t>Gap: objective and actual understandings of </a:t>
            </a:r>
            <a:r>
              <a:rPr lang="en-GB" dirty="0" err="1"/>
              <a:t>livability</a:t>
            </a:r>
            <a:endParaRPr lang="en-GB" dirty="0"/>
          </a:p>
          <a:p>
            <a:r>
              <a:rPr lang="en-GB" dirty="0"/>
              <a:t>Using Exposome, </a:t>
            </a:r>
            <a:r>
              <a:rPr lang="en-GB" dirty="0" err="1"/>
              <a:t>Firmbackbone</a:t>
            </a:r>
            <a:r>
              <a:rPr lang="en-GB" dirty="0"/>
              <a:t>, LISS to try understand the predictors of </a:t>
            </a:r>
            <a:r>
              <a:rPr lang="en-GB" dirty="0" err="1"/>
              <a:t>livability</a:t>
            </a:r>
            <a:r>
              <a:rPr lang="en-GB" dirty="0"/>
              <a:t> </a:t>
            </a:r>
          </a:p>
          <a:p>
            <a:r>
              <a:rPr lang="en-GB" dirty="0"/>
              <a:t>Compare perception with “objective” </a:t>
            </a:r>
            <a:r>
              <a:rPr lang="en-GB" dirty="0" err="1"/>
              <a:t>livability</a:t>
            </a:r>
            <a:r>
              <a:rPr lang="en-GB" dirty="0"/>
              <a:t> score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4668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114CE-3A47-AFD5-8B03-147194BCD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FE17C-99DB-E666-E7C2-0E384C99A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GB" dirty="0"/>
              <a:t>What alternative model using administrative and survey data can predict </a:t>
            </a:r>
            <a:r>
              <a:rPr lang="en-GB" dirty="0" err="1"/>
              <a:t>livability</a:t>
            </a:r>
            <a:r>
              <a:rPr lang="en-GB" dirty="0"/>
              <a:t> score in the Netherlands?</a:t>
            </a:r>
            <a:endParaRPr lang="ru-RU" dirty="0"/>
          </a:p>
          <a:p>
            <a:pPr marL="457200" indent="-457200">
              <a:buAutoNum type="arabicPeriod"/>
            </a:pPr>
            <a:r>
              <a:rPr lang="en-GB" dirty="0"/>
              <a:t>What model can represent people’s perceptions of </a:t>
            </a:r>
            <a:r>
              <a:rPr lang="en-GB" dirty="0" err="1"/>
              <a:t>livability</a:t>
            </a:r>
            <a:r>
              <a:rPr lang="en-GB" dirty="0"/>
              <a:t> in the Netherlands?</a:t>
            </a:r>
          </a:p>
          <a:p>
            <a:pPr marL="457200" indent="-457200">
              <a:buAutoNum type="arabicPeriod"/>
            </a:pPr>
            <a:r>
              <a:rPr lang="en-GB" dirty="0"/>
              <a:t>What are the differences in scoring …?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06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7DB29-D704-7649-E63C-610D8F7CE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DATA</a:t>
            </a:r>
            <a:endParaRPr lang="en-NL" sz="4000" dirty="0"/>
          </a:p>
        </p:txBody>
      </p:sp>
      <p:pic>
        <p:nvPicPr>
          <p:cNvPr id="1026" name="Picture 2" descr="Survey Data Netherlands - About">
            <a:extLst>
              <a:ext uri="{FF2B5EF4-FFF2-40B4-BE49-F238E27FC236}">
                <a16:creationId xmlns:a16="http://schemas.microsoft.com/office/drawing/2014/main" id="{912863B4-A454-920F-55D4-E828CD983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45844"/>
            <a:ext cx="1958068" cy="1958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B51224-3C30-98CB-EE9A-B726F75CA5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3" t="19448" r="72747" b="64625"/>
          <a:stretch>
            <a:fillRect/>
          </a:stretch>
        </p:blipFill>
        <p:spPr>
          <a:xfrm>
            <a:off x="3176157" y="2303007"/>
            <a:ext cx="4944730" cy="164374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34B0D6-8877-B408-5E8A-A26D9BD3BCD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40" t="17143" r="75267" b="73175"/>
          <a:stretch>
            <a:fillRect/>
          </a:stretch>
        </p:blipFill>
        <p:spPr>
          <a:xfrm>
            <a:off x="8120887" y="2642224"/>
            <a:ext cx="4071113" cy="968573"/>
          </a:xfrm>
          <a:prstGeom prst="rect">
            <a:avLst/>
          </a:prstGeom>
        </p:spPr>
      </p:pic>
      <p:pic>
        <p:nvPicPr>
          <p:cNvPr id="1038" name="Picture 14" descr="aivd_nl">
            <a:extLst>
              <a:ext uri="{FF2B5EF4-FFF2-40B4-BE49-F238E27FC236}">
                <a16:creationId xmlns:a16="http://schemas.microsoft.com/office/drawing/2014/main" id="{2838B81E-7193-7651-E69A-11326F6CD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6996" y="4103912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968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D5AA4-39E8-7D88-FF14-AEEA7CC8A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LIVABILITY SCORE</a:t>
            </a:r>
            <a:endParaRPr lang="en-NL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078A8-6BB5-7041-FA15-FF26060FE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DIMENSIONS</a:t>
            </a:r>
            <a:br>
              <a:rPr lang="en-US" dirty="0"/>
            </a:br>
            <a:r>
              <a:rPr lang="en-US" dirty="0"/>
              <a:t>dimensions and subdimensions</a:t>
            </a:r>
            <a:br>
              <a:rPr lang="en-US" dirty="0"/>
            </a:br>
            <a:r>
              <a:rPr lang="en-US" dirty="0"/>
              <a:t>color-coding dimensions we think we were able to capture in the LISS variables as perceptions </a:t>
            </a:r>
          </a:p>
          <a:p>
            <a:r>
              <a:rPr lang="en-US" dirty="0"/>
              <a:t>VISUALIZATION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29769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0AF0E-ED51-D6C7-ED17-990E85214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ANALYSIS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45100-CE06-4549-0F6E-0CC8267F6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METHOD AND APPROACH</a:t>
            </a:r>
            <a:endParaRPr lang="ru-RU" dirty="0"/>
          </a:p>
          <a:p>
            <a:r>
              <a:rPr lang="en-GB" dirty="0"/>
              <a:t>ETHICAL CONSIDERATIONS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200445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DF4A-6793-0A82-6A54-8C85064ED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RESULTS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C6F1B-C3BD-3A07-79D7-89F1A5E47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RESULTS</a:t>
            </a:r>
          </a:p>
          <a:p>
            <a:r>
              <a:rPr lang="en-US" dirty="0"/>
              <a:t>VISUALIZATIONS</a:t>
            </a:r>
          </a:p>
          <a:p>
            <a:r>
              <a:rPr lang="en-US" dirty="0"/>
              <a:t>REMARKS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23057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E30F6-326D-57E9-0F15-5EF34F392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5E6E3-AEBA-9155-B302-16E4B1111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DISCUSSION</a:t>
            </a:r>
            <a:endParaRPr lang="en-NL" sz="4000" b="1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6E416-C70A-6027-5F9B-7B2ABF0F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LIMITATIONS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- limitations of using secondary data, and admin data in particular – having only variables that are available</a:t>
            </a:r>
            <a:br>
              <a:rPr lang="en-GB" dirty="0"/>
            </a:br>
            <a:r>
              <a:rPr lang="en-GB" dirty="0"/>
              <a:t>- representativeness of LISS – often less than 10 people per neighbourhood</a:t>
            </a:r>
            <a:br>
              <a:rPr lang="en-GB" dirty="0"/>
            </a:br>
            <a:r>
              <a:rPr lang="en-GB" dirty="0"/>
              <a:t>- approximating measures for </a:t>
            </a:r>
            <a:r>
              <a:rPr lang="en-GB" dirty="0" err="1"/>
              <a:t>livability</a:t>
            </a:r>
            <a:r>
              <a:rPr lang="en-GB" dirty="0"/>
              <a:t> dimensions based on our own interpretation due to lack of metadata documentation for </a:t>
            </a:r>
            <a:r>
              <a:rPr lang="en-GB" dirty="0" err="1"/>
              <a:t>livability</a:t>
            </a:r>
            <a:r>
              <a:rPr lang="en-GB" dirty="0"/>
              <a:t> score</a:t>
            </a:r>
            <a:endParaRPr lang="en-US" dirty="0"/>
          </a:p>
          <a:p>
            <a:r>
              <a:rPr lang="en-US" dirty="0"/>
              <a:t>POSSIBLE FURTHER DIRECTIONS</a:t>
            </a:r>
            <a:r>
              <a:rPr lang="en-US" dirty="0">
                <a:sym typeface="Wingdings" pitchFamily="2" charset="2"/>
              </a:rPr>
              <a:t>: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- </a:t>
            </a:r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40838743"/>
      </p:ext>
    </p:extLst>
  </p:cSld>
  <p:clrMapOvr>
    <a:masterClrMapping/>
  </p:clrMapOvr>
</p:sld>
</file>

<file path=ppt/theme/theme1.xml><?xml version="1.0" encoding="utf-8"?>
<a:theme xmlns:a="http://schemas.openxmlformats.org/drawingml/2006/main" name="ShapesVTI">
  <a:themeElements>
    <a:clrScheme name="Office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Festival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apesVTI" id="{C78D20FD-A872-4243-8597-B534C62538FF}" vid="{7CAFCCF9-7834-41D6-B6AB-7D225A18A4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226</Words>
  <Application>Microsoft Macintosh PowerPoint</Application>
  <PresentationFormat>Widescreen</PresentationFormat>
  <Paragraphs>31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Century Gothic</vt:lpstr>
      <vt:lpstr>Wingdings</vt:lpstr>
      <vt:lpstr>ShapesVTI</vt:lpstr>
      <vt:lpstr>LIVING</vt:lpstr>
      <vt:lpstr>BACKGROUND LITERATURE</vt:lpstr>
      <vt:lpstr>RESEARCH QUESTIONS</vt:lpstr>
      <vt:lpstr>DATA</vt:lpstr>
      <vt:lpstr>LIVABILITY SCORE</vt:lpstr>
      <vt:lpstr>ANALYSIS</vt:lpstr>
      <vt:lpstr>RESULTS</vt:lpstr>
      <vt:lpstr>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Ilaria Lunardelli</dc:creator>
  <cp:lastModifiedBy>Tomiris Gilazh - Bristol</cp:lastModifiedBy>
  <cp:revision>3</cp:revision>
  <dcterms:created xsi:type="dcterms:W3CDTF">2026-06-16T13:02:02Z</dcterms:created>
  <dcterms:modified xsi:type="dcterms:W3CDTF">2026-06-18T07:43:58Z</dcterms:modified>
</cp:coreProperties>
</file>